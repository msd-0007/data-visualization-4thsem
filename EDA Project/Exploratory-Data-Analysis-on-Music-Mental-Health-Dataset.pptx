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Fraunces ExtraBold" panose="020B0604020202020204" charset="0"/>
      <p:regular r:id="rId12"/>
    </p:embeddedFont>
    <p:embeddedFont>
      <p:font typeface="Nobile"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F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421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txBody>
          <a:bodyPr/>
          <a:lstStyle/>
          <a:p>
            <a:endParaRPr lang="en-IN"/>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FFA"/>
          </a:solidFill>
          <a:ln/>
        </p:spPr>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31320" y="993286"/>
            <a:ext cx="7970565" cy="1222772"/>
          </a:xfrm>
          <a:prstGeom prst="rect">
            <a:avLst/>
          </a:prstGeom>
          <a:noFill/>
          <a:ln/>
        </p:spPr>
        <p:txBody>
          <a:bodyPr wrap="square" lIns="0" tIns="0" rIns="0" bIns="0" rtlCol="0" anchor="t">
            <a:normAutofit fontScale="92500"/>
          </a:bodyPr>
          <a:lstStyle/>
          <a:p>
            <a:pPr marL="0" indent="0" algn="l">
              <a:lnSpc>
                <a:spcPct val="104000"/>
              </a:lnSpc>
              <a:buNone/>
            </a:pPr>
            <a:r>
              <a:rPr lang="en-US" sz="3850" dirty="0">
                <a:solidFill>
                  <a:srgbClr val="3B4540"/>
                </a:solidFill>
                <a:latin typeface="Fraunces ExtraBold" pitchFamily="34" charset="0"/>
                <a:ea typeface="Fraunces ExtraBold" pitchFamily="34" charset="-122"/>
                <a:cs typeface="Fraunces ExtraBold" pitchFamily="34" charset="-120"/>
              </a:rPr>
              <a:t>Exploratory Data Analysis</a:t>
            </a:r>
            <a:endParaRPr lang="en-US" sz="3850" dirty="0"/>
          </a:p>
          <a:p>
            <a:pPr marL="0" indent="0" algn="l">
              <a:lnSpc>
                <a:spcPct val="104000"/>
              </a:lnSpc>
              <a:buNone/>
            </a:pPr>
            <a:r>
              <a:rPr lang="en-US" sz="3850" dirty="0">
                <a:solidFill>
                  <a:srgbClr val="3B4540"/>
                </a:solidFill>
                <a:latin typeface="Fraunces ExtraBold" pitchFamily="34" charset="0"/>
                <a:ea typeface="Fraunces ExtraBold" pitchFamily="34" charset="-122"/>
                <a:cs typeface="Fraunces ExtraBold" pitchFamily="34" charset="-120"/>
              </a:rPr>
              <a:t>on Music-Mental Health Dataset</a:t>
            </a:r>
            <a:endParaRPr lang="en-US" sz="3850" dirty="0"/>
          </a:p>
        </p:txBody>
      </p:sp>
      <p:sp>
        <p:nvSpPr>
          <p:cNvPr id="3" name="Shape 1"/>
          <p:cNvSpPr/>
          <p:nvPr/>
        </p:nvSpPr>
        <p:spPr>
          <a:xfrm>
            <a:off x="531320" y="2864197"/>
            <a:ext cx="3902943" cy="965597"/>
          </a:xfrm>
          <a:prstGeom prst="roundRect">
            <a:avLst>
              <a:gd name="adj" fmla="val 13214"/>
            </a:avLst>
          </a:prstGeom>
          <a:solidFill>
            <a:srgbClr val="B6D6FC"/>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637877" y="3000152"/>
            <a:ext cx="221456" cy="177180"/>
          </a:xfrm>
          <a:prstGeom prst="rect">
            <a:avLst/>
          </a:prstGeom>
        </p:spPr>
      </p:pic>
      <p:sp>
        <p:nvSpPr>
          <p:cNvPr id="5" name="Text 2"/>
          <p:cNvSpPr/>
          <p:nvPr/>
        </p:nvSpPr>
        <p:spPr>
          <a:xfrm>
            <a:off x="1001092" y="2983781"/>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Fraunces ExtraBold" pitchFamily="34" charset="0"/>
                <a:ea typeface="Fraunces ExtraBold" pitchFamily="34" charset="-122"/>
                <a:cs typeface="Fraunces ExtraBold" pitchFamily="34" charset="-120"/>
              </a:rPr>
              <a:t>Presented By</a:t>
            </a:r>
            <a:endParaRPr lang="en-US" sz="1350" dirty="0"/>
          </a:p>
        </p:txBody>
      </p:sp>
      <p:sp>
        <p:nvSpPr>
          <p:cNvPr id="6" name="Text 3"/>
          <p:cNvSpPr/>
          <p:nvPr/>
        </p:nvSpPr>
        <p:spPr>
          <a:xfrm>
            <a:off x="1001092" y="3346996"/>
            <a:ext cx="3713411"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Nobile" pitchFamily="34" charset="0"/>
                <a:ea typeface="Nobile" pitchFamily="34" charset="-122"/>
                <a:cs typeface="Nobile" pitchFamily="34" charset="-120"/>
              </a:rPr>
              <a:t>Nayandeep Goswami</a:t>
            </a:r>
            <a:endParaRPr lang="en-US" sz="1100" dirty="0"/>
          </a:p>
        </p:txBody>
      </p:sp>
      <p:sp>
        <p:nvSpPr>
          <p:cNvPr id="7" name="Shape 4"/>
          <p:cNvSpPr/>
          <p:nvPr/>
        </p:nvSpPr>
        <p:spPr>
          <a:xfrm>
            <a:off x="4735520" y="2864197"/>
            <a:ext cx="3902943" cy="965597"/>
          </a:xfrm>
          <a:prstGeom prst="roundRect">
            <a:avLst>
              <a:gd name="adj" fmla="val 13214"/>
            </a:avLst>
          </a:prstGeom>
          <a:solidFill>
            <a:srgbClr val="CCE6D1"/>
          </a:solidFill>
          <a:ln/>
        </p:spPr>
        <p:txBody>
          <a:bodyPr/>
          <a:lstStyle/>
          <a:p>
            <a:endParaRPr lang="en-IN" dirty="0"/>
          </a:p>
        </p:txBody>
      </p:sp>
      <p:pic>
        <p:nvPicPr>
          <p:cNvPr id="8" name="Image 1" descr="preencoded.png"/>
          <p:cNvPicPr>
            <a:picLocks noChangeAspect="1"/>
          </p:cNvPicPr>
          <p:nvPr/>
        </p:nvPicPr>
        <p:blipFill>
          <a:blip r:embed="rId4"/>
          <a:stretch>
            <a:fillRect/>
          </a:stretch>
        </p:blipFill>
        <p:spPr>
          <a:xfrm>
            <a:off x="4891460" y="3000152"/>
            <a:ext cx="221456" cy="177180"/>
          </a:xfrm>
          <a:prstGeom prst="rect">
            <a:avLst/>
          </a:prstGeom>
        </p:spPr>
      </p:pic>
      <p:sp>
        <p:nvSpPr>
          <p:cNvPr id="9" name="Text 5"/>
          <p:cNvSpPr/>
          <p:nvPr/>
        </p:nvSpPr>
        <p:spPr>
          <a:xfrm>
            <a:off x="5254675" y="2983781"/>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Fraunces ExtraBold" pitchFamily="34" charset="0"/>
                <a:ea typeface="Fraunces ExtraBold" pitchFamily="34" charset="-122"/>
                <a:cs typeface="Fraunces ExtraBold" pitchFamily="34" charset="-120"/>
              </a:rPr>
              <a:t>Enrollment ID</a:t>
            </a:r>
            <a:endParaRPr lang="en-US" sz="1350" dirty="0"/>
          </a:p>
        </p:txBody>
      </p:sp>
      <p:sp>
        <p:nvSpPr>
          <p:cNvPr id="10" name="Text 6"/>
          <p:cNvSpPr/>
          <p:nvPr/>
        </p:nvSpPr>
        <p:spPr>
          <a:xfrm>
            <a:off x="5254675" y="3346996"/>
            <a:ext cx="3713411"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Nobile" pitchFamily="34" charset="0"/>
                <a:ea typeface="Nobile" pitchFamily="34" charset="-122"/>
                <a:cs typeface="Nobile" pitchFamily="34" charset="-120"/>
              </a:rPr>
              <a:t>ADTU/0/2024-28/BCSM/047</a:t>
            </a:r>
            <a:endParaRPr lang="en-US" sz="1100" dirty="0"/>
          </a:p>
        </p:txBody>
      </p:sp>
      <p:sp>
        <p:nvSpPr>
          <p:cNvPr id="11" name="Rectangle 10">
            <a:extLst>
              <a:ext uri="{FF2B5EF4-FFF2-40B4-BE49-F238E27FC236}">
                <a16:creationId xmlns:a16="http://schemas.microsoft.com/office/drawing/2014/main" id="{18CF8E4D-AF78-1A38-68D5-1AD9B4F09A40}"/>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75184"/>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Table of Contents</a:t>
            </a:r>
            <a:endParaRPr lang="en-US" sz="2750" dirty="0"/>
          </a:p>
        </p:txBody>
      </p:sp>
      <p:pic>
        <p:nvPicPr>
          <p:cNvPr id="3" name="Image 0" descr="preencoded.png"/>
          <p:cNvPicPr>
            <a:picLocks noChangeAspect="1"/>
          </p:cNvPicPr>
          <p:nvPr/>
        </p:nvPicPr>
        <p:blipFill>
          <a:blip r:embed="rId3"/>
          <a:stretch>
            <a:fillRect/>
          </a:stretch>
        </p:blipFill>
        <p:spPr>
          <a:xfrm>
            <a:off x="2130475" y="1601688"/>
            <a:ext cx="807021" cy="504974"/>
          </a:xfrm>
          <a:prstGeom prst="rect">
            <a:avLst/>
          </a:prstGeom>
        </p:spPr>
      </p:pic>
      <p:sp>
        <p:nvSpPr>
          <p:cNvPr id="4" name="Text 1"/>
          <p:cNvSpPr/>
          <p:nvPr/>
        </p:nvSpPr>
        <p:spPr>
          <a:xfrm>
            <a:off x="2434307" y="1784077"/>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1</a:t>
            </a:r>
            <a:endParaRPr lang="en-US" sz="1550" dirty="0"/>
          </a:p>
        </p:txBody>
      </p:sp>
      <p:sp>
        <p:nvSpPr>
          <p:cNvPr id="5" name="Text 2"/>
          <p:cNvSpPr/>
          <p:nvPr/>
        </p:nvSpPr>
        <p:spPr>
          <a:xfrm>
            <a:off x="3079254" y="1743447"/>
            <a:ext cx="1009799"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Conclusion</a:t>
            </a:r>
            <a:endParaRPr lang="en-US" sz="1350" dirty="0"/>
          </a:p>
        </p:txBody>
      </p:sp>
      <p:sp>
        <p:nvSpPr>
          <p:cNvPr id="6" name="Shape 3"/>
          <p:cNvSpPr/>
          <p:nvPr/>
        </p:nvSpPr>
        <p:spPr>
          <a:xfrm>
            <a:off x="2972916" y="2114848"/>
            <a:ext cx="5639544" cy="9525"/>
          </a:xfrm>
          <a:prstGeom prst="roundRect">
            <a:avLst>
              <a:gd name="adj" fmla="val 1339536"/>
            </a:avLst>
          </a:prstGeom>
          <a:solidFill>
            <a:srgbClr val="CED9CE"/>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1727002" y="2142083"/>
            <a:ext cx="1614041" cy="504974"/>
          </a:xfrm>
          <a:prstGeom prst="rect">
            <a:avLst/>
          </a:prstGeom>
        </p:spPr>
      </p:pic>
      <p:sp>
        <p:nvSpPr>
          <p:cNvPr id="8" name="Text 4"/>
          <p:cNvSpPr/>
          <p:nvPr/>
        </p:nvSpPr>
        <p:spPr>
          <a:xfrm>
            <a:off x="2434307" y="2270001"/>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2</a:t>
            </a:r>
            <a:endParaRPr lang="en-US" sz="1550" dirty="0"/>
          </a:p>
        </p:txBody>
      </p:sp>
      <p:sp>
        <p:nvSpPr>
          <p:cNvPr id="9" name="Text 5"/>
          <p:cNvSpPr/>
          <p:nvPr/>
        </p:nvSpPr>
        <p:spPr>
          <a:xfrm>
            <a:off x="3482801" y="2283842"/>
            <a:ext cx="1625947"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Outputs &amp; Results</a:t>
            </a:r>
            <a:endParaRPr lang="en-US" sz="1350" dirty="0"/>
          </a:p>
        </p:txBody>
      </p:sp>
      <p:sp>
        <p:nvSpPr>
          <p:cNvPr id="10" name="Shape 6"/>
          <p:cNvSpPr/>
          <p:nvPr/>
        </p:nvSpPr>
        <p:spPr>
          <a:xfrm>
            <a:off x="3376464" y="2655243"/>
            <a:ext cx="5235997" cy="9525"/>
          </a:xfrm>
          <a:prstGeom prst="roundRect">
            <a:avLst>
              <a:gd name="adj" fmla="val 1339536"/>
            </a:avLst>
          </a:prstGeom>
          <a:solidFill>
            <a:srgbClr val="CED9CE"/>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1323454" y="2682478"/>
            <a:ext cx="2421062" cy="504974"/>
          </a:xfrm>
          <a:prstGeom prst="rect">
            <a:avLst/>
          </a:prstGeom>
        </p:spPr>
      </p:pic>
      <p:sp>
        <p:nvSpPr>
          <p:cNvPr id="12" name="Text 7"/>
          <p:cNvSpPr/>
          <p:nvPr/>
        </p:nvSpPr>
        <p:spPr>
          <a:xfrm>
            <a:off x="2434233" y="2810396"/>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3</a:t>
            </a:r>
            <a:endParaRPr lang="en-US" sz="1550" dirty="0"/>
          </a:p>
        </p:txBody>
      </p:sp>
      <p:sp>
        <p:nvSpPr>
          <p:cNvPr id="13" name="Text 8"/>
          <p:cNvSpPr/>
          <p:nvPr/>
        </p:nvSpPr>
        <p:spPr>
          <a:xfrm>
            <a:off x="3886274" y="2824237"/>
            <a:ext cx="2179588"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Working &amp; Methodology</a:t>
            </a:r>
            <a:endParaRPr lang="en-US" sz="1350" dirty="0"/>
          </a:p>
        </p:txBody>
      </p:sp>
      <p:sp>
        <p:nvSpPr>
          <p:cNvPr id="14" name="Shape 9"/>
          <p:cNvSpPr/>
          <p:nvPr/>
        </p:nvSpPr>
        <p:spPr>
          <a:xfrm>
            <a:off x="3779937" y="3195637"/>
            <a:ext cx="4832524" cy="9525"/>
          </a:xfrm>
          <a:prstGeom prst="roundRect">
            <a:avLst>
              <a:gd name="adj" fmla="val 1339536"/>
            </a:avLst>
          </a:prstGeom>
          <a:solidFill>
            <a:srgbClr val="CED9CE"/>
          </a:solidFill>
          <a:ln/>
        </p:spPr>
        <p:txBody>
          <a:bodyPr/>
          <a:lstStyle/>
          <a:p>
            <a:endParaRPr lang="en-IN"/>
          </a:p>
        </p:txBody>
      </p:sp>
      <p:pic>
        <p:nvPicPr>
          <p:cNvPr id="15" name="Image 3" descr="preencoded.png"/>
          <p:cNvPicPr>
            <a:picLocks noChangeAspect="1"/>
          </p:cNvPicPr>
          <p:nvPr/>
        </p:nvPicPr>
        <p:blipFill>
          <a:blip r:embed="rId6"/>
          <a:stretch>
            <a:fillRect/>
          </a:stretch>
        </p:blipFill>
        <p:spPr>
          <a:xfrm>
            <a:off x="919981" y="3222873"/>
            <a:ext cx="3228082" cy="504974"/>
          </a:xfrm>
          <a:prstGeom prst="rect">
            <a:avLst/>
          </a:prstGeom>
        </p:spPr>
      </p:pic>
      <p:sp>
        <p:nvSpPr>
          <p:cNvPr id="16" name="Text 10"/>
          <p:cNvSpPr/>
          <p:nvPr/>
        </p:nvSpPr>
        <p:spPr>
          <a:xfrm>
            <a:off x="2434307" y="3350791"/>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4</a:t>
            </a:r>
            <a:endParaRPr lang="en-US" sz="1550" dirty="0"/>
          </a:p>
        </p:txBody>
      </p:sp>
      <p:sp>
        <p:nvSpPr>
          <p:cNvPr id="17" name="Text 11"/>
          <p:cNvSpPr/>
          <p:nvPr/>
        </p:nvSpPr>
        <p:spPr>
          <a:xfrm>
            <a:off x="4289822" y="3364632"/>
            <a:ext cx="1893987"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Tools &amp; Technologies</a:t>
            </a:r>
            <a:endParaRPr lang="en-US" sz="1350" dirty="0"/>
          </a:p>
        </p:txBody>
      </p:sp>
      <p:sp>
        <p:nvSpPr>
          <p:cNvPr id="18" name="Shape 12"/>
          <p:cNvSpPr/>
          <p:nvPr/>
        </p:nvSpPr>
        <p:spPr>
          <a:xfrm>
            <a:off x="4183484" y="3736032"/>
            <a:ext cx="4428976" cy="9525"/>
          </a:xfrm>
          <a:prstGeom prst="roundRect">
            <a:avLst>
              <a:gd name="adj" fmla="val 1339536"/>
            </a:avLst>
          </a:prstGeom>
          <a:solidFill>
            <a:srgbClr val="CED9CE"/>
          </a:solidFill>
          <a:ln/>
        </p:spPr>
        <p:txBody>
          <a:bodyPr/>
          <a:lstStyle/>
          <a:p>
            <a:endParaRPr lang="en-IN"/>
          </a:p>
        </p:txBody>
      </p:sp>
      <p:pic>
        <p:nvPicPr>
          <p:cNvPr id="19" name="Image 4" descr="preencoded.png"/>
          <p:cNvPicPr>
            <a:picLocks noChangeAspect="1"/>
          </p:cNvPicPr>
          <p:nvPr/>
        </p:nvPicPr>
        <p:blipFill>
          <a:blip r:embed="rId7"/>
          <a:stretch>
            <a:fillRect/>
          </a:stretch>
        </p:blipFill>
        <p:spPr>
          <a:xfrm>
            <a:off x="516434" y="3763268"/>
            <a:ext cx="4035103" cy="504974"/>
          </a:xfrm>
          <a:prstGeom prst="rect">
            <a:avLst/>
          </a:prstGeom>
        </p:spPr>
      </p:pic>
      <p:sp>
        <p:nvSpPr>
          <p:cNvPr id="20" name="Text 13"/>
          <p:cNvSpPr/>
          <p:nvPr/>
        </p:nvSpPr>
        <p:spPr>
          <a:xfrm>
            <a:off x="2434307" y="3891186"/>
            <a:ext cx="199355" cy="249138"/>
          </a:xfrm>
          <a:prstGeom prst="rect">
            <a:avLst/>
          </a:prstGeom>
          <a:noFill/>
          <a:ln/>
        </p:spPr>
        <p:txBody>
          <a:bodyPr wrap="none" lIns="0" tIns="0" rIns="0" bIns="0" rtlCol="0" anchor="ctr"/>
          <a:lstStyle/>
          <a:p>
            <a:pPr marL="0" indent="0" algn="ctr">
              <a:lnSpc>
                <a:spcPct val="100000"/>
              </a:lnSpc>
              <a:buNone/>
            </a:pPr>
            <a:r>
              <a:rPr lang="en-US" sz="1550" dirty="0">
                <a:solidFill>
                  <a:srgbClr val="405449"/>
                </a:solidFill>
                <a:latin typeface="Fraunces ExtraBold" pitchFamily="34" charset="0"/>
                <a:ea typeface="Fraunces ExtraBold" pitchFamily="34" charset="-122"/>
                <a:cs typeface="Fraunces ExtraBold" pitchFamily="34" charset="-120"/>
              </a:rPr>
              <a:t>5</a:t>
            </a:r>
            <a:endParaRPr lang="en-US" sz="1550" dirty="0"/>
          </a:p>
        </p:txBody>
      </p:sp>
      <p:sp>
        <p:nvSpPr>
          <p:cNvPr id="21" name="Text 14"/>
          <p:cNvSpPr/>
          <p:nvPr/>
        </p:nvSpPr>
        <p:spPr>
          <a:xfrm>
            <a:off x="4693295" y="3905027"/>
            <a:ext cx="2318296" cy="221456"/>
          </a:xfrm>
          <a:prstGeom prst="rect">
            <a:avLst/>
          </a:prstGeom>
          <a:noFill/>
          <a:ln/>
        </p:spPr>
        <p:txBody>
          <a:bodyPr wrap="none" lIns="0" tIns="0" rIns="0" bIns="0" rtlCol="0" anchor="t"/>
          <a:lstStyle/>
          <a:p>
            <a:pPr marL="0" indent="0" algn="l">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Introduction &amp; Objectives</a:t>
            </a:r>
            <a:endParaRPr lang="en-US" sz="1350" dirty="0"/>
          </a:p>
        </p:txBody>
      </p:sp>
      <p:sp>
        <p:nvSpPr>
          <p:cNvPr id="22" name="Rectangle 21">
            <a:extLst>
              <a:ext uri="{FF2B5EF4-FFF2-40B4-BE49-F238E27FC236}">
                <a16:creationId xmlns:a16="http://schemas.microsoft.com/office/drawing/2014/main" id="{1696646D-63A5-0241-DFE4-ADD88BD7FCA0}"/>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499890"/>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Introduction</a:t>
            </a:r>
            <a:endParaRPr lang="en-US" sz="2750" dirty="0"/>
          </a:p>
        </p:txBody>
      </p:sp>
      <p:sp>
        <p:nvSpPr>
          <p:cNvPr id="3" name="Text 1"/>
          <p:cNvSpPr/>
          <p:nvPr/>
        </p:nvSpPr>
        <p:spPr>
          <a:xfrm>
            <a:off x="496119" y="2226394"/>
            <a:ext cx="8151763" cy="1417216"/>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405449"/>
                </a:solidFill>
                <a:latin typeface="Nobile" pitchFamily="34" charset="0"/>
                <a:ea typeface="Nobile" pitchFamily="34" charset="-122"/>
                <a:cs typeface="Nobile" pitchFamily="34" charset="-120"/>
              </a:rPr>
              <a:t>This project focuses on performing Exploratory Data Analysis (EDA) on the given dataset to understand its structure, identify patterns, and extract useful insights. The dataset was analyzed using Python libraries to study relationships between different variables through statistical methods and visualizations. Various graphs and plots were generated to better understand the distribution of data, correlations, and trends present in the dataset.</a:t>
            </a:r>
            <a:endParaRPr lang="en-US" sz="1350" dirty="0"/>
          </a:p>
        </p:txBody>
      </p:sp>
      <p:sp>
        <p:nvSpPr>
          <p:cNvPr id="4" name="Rectangle 3">
            <a:extLst>
              <a:ext uri="{FF2B5EF4-FFF2-40B4-BE49-F238E27FC236}">
                <a16:creationId xmlns:a16="http://schemas.microsoft.com/office/drawing/2014/main" id="{85369D26-15FD-2188-421A-AFC3298F1F97}"/>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129978"/>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Objectives</a:t>
            </a:r>
            <a:endParaRPr lang="en-US" sz="2750" dirty="0"/>
          </a:p>
        </p:txBody>
      </p:sp>
      <p:pic>
        <p:nvPicPr>
          <p:cNvPr id="3" name="Image 0" descr="preencoded.png"/>
          <p:cNvPicPr>
            <a:picLocks noChangeAspect="1"/>
          </p:cNvPicPr>
          <p:nvPr/>
        </p:nvPicPr>
        <p:blipFill>
          <a:blip r:embed="rId3"/>
          <a:stretch>
            <a:fillRect/>
          </a:stretch>
        </p:blipFill>
        <p:spPr>
          <a:xfrm>
            <a:off x="496119" y="1856482"/>
            <a:ext cx="8151763" cy="2157040"/>
          </a:xfrm>
          <a:prstGeom prst="rect">
            <a:avLst/>
          </a:prstGeom>
        </p:spPr>
      </p:pic>
      <p:sp>
        <p:nvSpPr>
          <p:cNvPr id="4" name="Text 1"/>
          <p:cNvSpPr/>
          <p:nvPr/>
        </p:nvSpPr>
        <p:spPr>
          <a:xfrm>
            <a:off x="1124863" y="2585819"/>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Understand Dataset</a:t>
            </a:r>
            <a:endParaRPr lang="en-US" sz="1350" dirty="0"/>
          </a:p>
        </p:txBody>
      </p:sp>
      <p:sp>
        <p:nvSpPr>
          <p:cNvPr id="5" name="Text 2"/>
          <p:cNvSpPr/>
          <p:nvPr/>
        </p:nvSpPr>
        <p:spPr>
          <a:xfrm>
            <a:off x="1124863" y="3089844"/>
            <a:ext cx="1232236" cy="353013"/>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Identify structure, fields, key types</a:t>
            </a:r>
            <a:endParaRPr lang="en-US" sz="1100" dirty="0"/>
          </a:p>
        </p:txBody>
      </p:sp>
      <p:sp>
        <p:nvSpPr>
          <p:cNvPr id="6" name="Text 3"/>
          <p:cNvSpPr/>
          <p:nvPr/>
        </p:nvSpPr>
        <p:spPr>
          <a:xfrm>
            <a:off x="2536915" y="2250457"/>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Clean &amp; Preprocess</a:t>
            </a:r>
            <a:endParaRPr lang="en-US" sz="1350" dirty="0"/>
          </a:p>
        </p:txBody>
      </p:sp>
      <p:sp>
        <p:nvSpPr>
          <p:cNvPr id="7" name="Text 4"/>
          <p:cNvSpPr/>
          <p:nvPr/>
        </p:nvSpPr>
        <p:spPr>
          <a:xfrm>
            <a:off x="2536915" y="2754481"/>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Fix errors and handle missing values</a:t>
            </a:r>
            <a:endParaRPr lang="en-US" sz="1100" dirty="0"/>
          </a:p>
        </p:txBody>
      </p:sp>
      <p:sp>
        <p:nvSpPr>
          <p:cNvPr id="8" name="Text 5"/>
          <p:cNvSpPr/>
          <p:nvPr/>
        </p:nvSpPr>
        <p:spPr>
          <a:xfrm>
            <a:off x="3948967" y="2585819"/>
            <a:ext cx="1232236" cy="661900"/>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Analyze Relationships</a:t>
            </a:r>
            <a:endParaRPr lang="en-US" sz="1350" dirty="0"/>
          </a:p>
        </p:txBody>
      </p:sp>
      <p:sp>
        <p:nvSpPr>
          <p:cNvPr id="9" name="Text 6"/>
          <p:cNvSpPr/>
          <p:nvPr/>
        </p:nvSpPr>
        <p:spPr>
          <a:xfrm>
            <a:off x="3948967" y="3310477"/>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Explore features and their connections</a:t>
            </a:r>
            <a:endParaRPr lang="en-US" sz="1100" dirty="0"/>
          </a:p>
        </p:txBody>
      </p:sp>
      <p:sp>
        <p:nvSpPr>
          <p:cNvPr id="10" name="Text 7"/>
          <p:cNvSpPr/>
          <p:nvPr/>
        </p:nvSpPr>
        <p:spPr>
          <a:xfrm>
            <a:off x="5361019" y="2250457"/>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Visualize Trends</a:t>
            </a:r>
            <a:endParaRPr lang="en-US" sz="1350" dirty="0"/>
          </a:p>
        </p:txBody>
      </p:sp>
      <p:sp>
        <p:nvSpPr>
          <p:cNvPr id="11" name="Text 8"/>
          <p:cNvSpPr/>
          <p:nvPr/>
        </p:nvSpPr>
        <p:spPr>
          <a:xfrm>
            <a:off x="5361019" y="2754481"/>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Use charts to reveal patterns over time</a:t>
            </a:r>
            <a:endParaRPr lang="en-US" sz="1100" dirty="0"/>
          </a:p>
        </p:txBody>
      </p:sp>
      <p:sp>
        <p:nvSpPr>
          <p:cNvPr id="12" name="Text 9"/>
          <p:cNvSpPr/>
          <p:nvPr/>
        </p:nvSpPr>
        <p:spPr>
          <a:xfrm>
            <a:off x="6780916" y="2585819"/>
            <a:ext cx="1232236" cy="441266"/>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3B4540"/>
                </a:solidFill>
                <a:latin typeface="Fraunces ExtraBold" pitchFamily="34" charset="0"/>
                <a:ea typeface="Fraunces ExtraBold" pitchFamily="34" charset="-122"/>
                <a:cs typeface="Fraunces ExtraBold" pitchFamily="34" charset="-120"/>
              </a:rPr>
              <a:t>Generate Insights</a:t>
            </a:r>
            <a:endParaRPr lang="en-US" sz="1350" dirty="0"/>
          </a:p>
        </p:txBody>
      </p:sp>
      <p:sp>
        <p:nvSpPr>
          <p:cNvPr id="13" name="Text 10"/>
          <p:cNvSpPr/>
          <p:nvPr/>
        </p:nvSpPr>
        <p:spPr>
          <a:xfrm>
            <a:off x="6780916" y="3089844"/>
            <a:ext cx="1232236" cy="529519"/>
          </a:xfrm>
          <a:prstGeom prst="rect">
            <a:avLst/>
          </a:prstGeom>
          <a:noFill/>
          <a:ln/>
        </p:spPr>
        <p:txBody>
          <a:bodyPr wrap="square" lIns="0" tIns="0" rIns="0" bIns="0" rtlCol="0" anchor="t">
            <a:normAutofit/>
          </a:bodyPr>
          <a:lstStyle/>
          <a:p>
            <a:pPr marL="0" indent="0" algn="ctr">
              <a:lnSpc>
                <a:spcPct val="104000"/>
              </a:lnSpc>
              <a:buNone/>
            </a:pPr>
            <a:r>
              <a:rPr lang="en-US" sz="1100" dirty="0">
                <a:solidFill>
                  <a:srgbClr val="405449"/>
                </a:solidFill>
                <a:latin typeface="Nobile" pitchFamily="34" charset="0"/>
                <a:ea typeface="Nobile" pitchFamily="34" charset="-122"/>
                <a:cs typeface="Nobile" pitchFamily="34" charset="-120"/>
              </a:rPr>
              <a:t>Turn findings into actionable takeaways</a:t>
            </a:r>
            <a:endParaRPr lang="en-US" sz="1100" dirty="0"/>
          </a:p>
        </p:txBody>
      </p:sp>
      <p:sp>
        <p:nvSpPr>
          <p:cNvPr id="14" name="Rectangle 13">
            <a:extLst>
              <a:ext uri="{FF2B5EF4-FFF2-40B4-BE49-F238E27FC236}">
                <a16:creationId xmlns:a16="http://schemas.microsoft.com/office/drawing/2014/main" id="{CB89049B-CB3E-8DBD-577F-22EBE70CFAA3}"/>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79673"/>
            <a:ext cx="4724995" cy="398711"/>
          </a:xfrm>
          <a:prstGeom prst="rect">
            <a:avLst/>
          </a:prstGeom>
          <a:noFill/>
          <a:ln/>
        </p:spPr>
        <p:txBody>
          <a:bodyPr wrap="none" lIns="0" tIns="0" rIns="0" bIns="0" rtlCol="0" anchor="t"/>
          <a:lstStyle/>
          <a:p>
            <a:pPr marL="0" indent="0" algn="l">
              <a:lnSpc>
                <a:spcPct val="104000"/>
              </a:lnSpc>
              <a:buNone/>
            </a:pPr>
            <a:r>
              <a:rPr lang="en-US" sz="2500" dirty="0">
                <a:solidFill>
                  <a:srgbClr val="3B4540"/>
                </a:solidFill>
                <a:latin typeface="Fraunces ExtraBold" pitchFamily="34" charset="0"/>
                <a:ea typeface="Fraunces ExtraBold" pitchFamily="34" charset="-122"/>
                <a:cs typeface="Fraunces ExtraBold" pitchFamily="34" charset="-120"/>
              </a:rPr>
              <a:t>Tools &amp; Technologies Used</a:t>
            </a:r>
            <a:endParaRPr lang="en-US" sz="2500" dirty="0"/>
          </a:p>
        </p:txBody>
      </p:sp>
      <p:sp>
        <p:nvSpPr>
          <p:cNvPr id="3" name="Text 1"/>
          <p:cNvSpPr/>
          <p:nvPr/>
        </p:nvSpPr>
        <p:spPr>
          <a:xfrm>
            <a:off x="496119" y="1108025"/>
            <a:ext cx="8608963"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Core tools that powered the analysis and visualization workflow.</a:t>
            </a:r>
            <a:endParaRPr lang="en-US" sz="10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31131"/>
            <a:ext cx="318939" cy="318939"/>
          </a:xfrm>
          <a:prstGeom prst="rect">
            <a:avLst/>
          </a:prstGeom>
        </p:spPr>
      </p:pic>
      <p:sp>
        <p:nvSpPr>
          <p:cNvPr id="5" name="Text 2"/>
          <p:cNvSpPr/>
          <p:nvPr/>
        </p:nvSpPr>
        <p:spPr>
          <a:xfrm>
            <a:off x="496119" y="1893540"/>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Python</a:t>
            </a:r>
            <a:endParaRPr lang="en-US" sz="1250" dirty="0"/>
          </a:p>
        </p:txBody>
      </p:sp>
      <p:sp>
        <p:nvSpPr>
          <p:cNvPr id="6" name="Text 3"/>
          <p:cNvSpPr/>
          <p:nvPr/>
        </p:nvSpPr>
        <p:spPr>
          <a:xfrm>
            <a:off x="496119" y="2161654"/>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The main language used for data analysis and scripting.</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3735" y="1431131"/>
            <a:ext cx="318939" cy="318939"/>
          </a:xfrm>
          <a:prstGeom prst="rect">
            <a:avLst/>
          </a:prstGeom>
        </p:spPr>
      </p:pic>
      <p:sp>
        <p:nvSpPr>
          <p:cNvPr id="8" name="Text 4"/>
          <p:cNvSpPr/>
          <p:nvPr/>
        </p:nvSpPr>
        <p:spPr>
          <a:xfrm>
            <a:off x="4643735" y="1893540"/>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Pandas</a:t>
            </a:r>
            <a:endParaRPr lang="en-US" sz="1250" dirty="0"/>
          </a:p>
        </p:txBody>
      </p:sp>
      <p:sp>
        <p:nvSpPr>
          <p:cNvPr id="9" name="Text 5"/>
          <p:cNvSpPr/>
          <p:nvPr/>
        </p:nvSpPr>
        <p:spPr>
          <a:xfrm>
            <a:off x="4643735" y="2161654"/>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cleaning, transforming, and organizing data.</a:t>
            </a:r>
            <a:endParaRPr lang="en-US" sz="10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585219"/>
            <a:ext cx="318939" cy="318939"/>
          </a:xfrm>
          <a:prstGeom prst="rect">
            <a:avLst/>
          </a:prstGeom>
        </p:spPr>
      </p:pic>
      <p:sp>
        <p:nvSpPr>
          <p:cNvPr id="11" name="Text 6"/>
          <p:cNvSpPr/>
          <p:nvPr/>
        </p:nvSpPr>
        <p:spPr>
          <a:xfrm>
            <a:off x="496119" y="3047628"/>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NumPy</a:t>
            </a:r>
            <a:endParaRPr lang="en-US" sz="1250" dirty="0"/>
          </a:p>
        </p:txBody>
      </p:sp>
      <p:sp>
        <p:nvSpPr>
          <p:cNvPr id="12" name="Text 7"/>
          <p:cNvSpPr/>
          <p:nvPr/>
        </p:nvSpPr>
        <p:spPr>
          <a:xfrm>
            <a:off x="496119" y="3315742"/>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numerical computing and array-based operations.</a:t>
            </a:r>
            <a:endParaRPr lang="en-US" sz="10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3735" y="2585219"/>
            <a:ext cx="318939" cy="318939"/>
          </a:xfrm>
          <a:prstGeom prst="rect">
            <a:avLst/>
          </a:prstGeom>
        </p:spPr>
      </p:pic>
      <p:sp>
        <p:nvSpPr>
          <p:cNvPr id="14" name="Text 8"/>
          <p:cNvSpPr/>
          <p:nvPr/>
        </p:nvSpPr>
        <p:spPr>
          <a:xfrm>
            <a:off x="4643735" y="3047628"/>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Matplotlib</a:t>
            </a:r>
            <a:endParaRPr lang="en-US" sz="1250" dirty="0"/>
          </a:p>
        </p:txBody>
      </p:sp>
      <p:sp>
        <p:nvSpPr>
          <p:cNvPr id="15" name="Text 9"/>
          <p:cNvSpPr/>
          <p:nvPr/>
        </p:nvSpPr>
        <p:spPr>
          <a:xfrm>
            <a:off x="4643735" y="3315742"/>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to create charts and custom data visualizations.</a:t>
            </a:r>
            <a:endParaRPr lang="en-US" sz="10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739307"/>
            <a:ext cx="318939" cy="318939"/>
          </a:xfrm>
          <a:prstGeom prst="rect">
            <a:avLst/>
          </a:prstGeom>
        </p:spPr>
      </p:pic>
      <p:sp>
        <p:nvSpPr>
          <p:cNvPr id="17" name="Text 10"/>
          <p:cNvSpPr/>
          <p:nvPr/>
        </p:nvSpPr>
        <p:spPr>
          <a:xfrm>
            <a:off x="496119" y="4201716"/>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Seaborn</a:t>
            </a:r>
            <a:endParaRPr lang="en-US" sz="1250" dirty="0"/>
          </a:p>
        </p:txBody>
      </p:sp>
      <p:sp>
        <p:nvSpPr>
          <p:cNvPr id="18" name="Text 11"/>
          <p:cNvSpPr/>
          <p:nvPr/>
        </p:nvSpPr>
        <p:spPr>
          <a:xfrm>
            <a:off x="496119" y="4469829"/>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polished statistical graphics and trends.</a:t>
            </a:r>
            <a:endParaRPr lang="en-US" sz="10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3735" y="3739307"/>
            <a:ext cx="318939" cy="318939"/>
          </a:xfrm>
          <a:prstGeom prst="rect">
            <a:avLst/>
          </a:prstGeom>
        </p:spPr>
      </p:pic>
      <p:sp>
        <p:nvSpPr>
          <p:cNvPr id="20" name="Text 12"/>
          <p:cNvSpPr/>
          <p:nvPr/>
        </p:nvSpPr>
        <p:spPr>
          <a:xfrm>
            <a:off x="4643735" y="4201716"/>
            <a:ext cx="1594842" cy="199281"/>
          </a:xfrm>
          <a:prstGeom prst="rect">
            <a:avLst/>
          </a:prstGeom>
          <a:noFill/>
          <a:ln/>
        </p:spPr>
        <p:txBody>
          <a:bodyPr wrap="none" lIns="0" tIns="0" rIns="0" bIns="0" rtlCol="0" anchor="t"/>
          <a:lstStyle/>
          <a:p>
            <a:pPr marL="0" indent="0" algn="l">
              <a:lnSpc>
                <a:spcPct val="104000"/>
              </a:lnSpc>
              <a:buNone/>
            </a:pPr>
            <a:r>
              <a:rPr lang="en-US" sz="1250" dirty="0">
                <a:solidFill>
                  <a:srgbClr val="405449"/>
                </a:solidFill>
                <a:latin typeface="Fraunces ExtraBold" pitchFamily="34" charset="0"/>
                <a:ea typeface="Fraunces ExtraBold" pitchFamily="34" charset="-122"/>
                <a:cs typeface="Fraunces ExtraBold" pitchFamily="34" charset="-120"/>
              </a:rPr>
              <a:t>Jupyter Notebook</a:t>
            </a:r>
            <a:endParaRPr lang="en-US" sz="1250" dirty="0"/>
          </a:p>
        </p:txBody>
      </p:sp>
      <p:sp>
        <p:nvSpPr>
          <p:cNvPr id="21" name="Text 13"/>
          <p:cNvSpPr/>
          <p:nvPr/>
        </p:nvSpPr>
        <p:spPr>
          <a:xfrm>
            <a:off x="4643735" y="4469829"/>
            <a:ext cx="4004146" cy="193923"/>
          </a:xfrm>
          <a:prstGeom prst="rect">
            <a:avLst/>
          </a:prstGeom>
          <a:noFill/>
          <a:ln/>
        </p:spPr>
        <p:txBody>
          <a:bodyPr wrap="none" lIns="0" tIns="0" rIns="0" bIns="0" rtlCol="0" anchor="t"/>
          <a:lstStyle/>
          <a:p>
            <a:pPr marL="0" indent="0" algn="l">
              <a:lnSpc>
                <a:spcPct val="127000"/>
              </a:lnSpc>
              <a:buNone/>
            </a:pPr>
            <a:r>
              <a:rPr lang="en-US" sz="1000" dirty="0">
                <a:solidFill>
                  <a:srgbClr val="405449"/>
                </a:solidFill>
                <a:latin typeface="Nobile" pitchFamily="34" charset="0"/>
                <a:ea typeface="Nobile" pitchFamily="34" charset="-122"/>
                <a:cs typeface="Nobile" pitchFamily="34" charset="-120"/>
              </a:rPr>
              <a:t>Used for interactive analysis, exploration, and documentation.</a:t>
            </a:r>
            <a:endParaRPr lang="en-US" sz="1000" dirty="0"/>
          </a:p>
        </p:txBody>
      </p:sp>
      <p:sp>
        <p:nvSpPr>
          <p:cNvPr id="22" name="Rectangle 21">
            <a:extLst>
              <a:ext uri="{FF2B5EF4-FFF2-40B4-BE49-F238E27FC236}">
                <a16:creationId xmlns:a16="http://schemas.microsoft.com/office/drawing/2014/main" id="{7139AE61-7E4C-0BB9-2E04-1B55857AB374}"/>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28799"/>
            <a:ext cx="5214491"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Working and Methodology</a:t>
            </a:r>
            <a:endParaRPr lang="en-US" sz="2750" dirty="0"/>
          </a:p>
        </p:txBody>
      </p:sp>
      <p:sp>
        <p:nvSpPr>
          <p:cNvPr id="3" name="Shape 1"/>
          <p:cNvSpPr/>
          <p:nvPr/>
        </p:nvSpPr>
        <p:spPr>
          <a:xfrm>
            <a:off x="496119" y="3045693"/>
            <a:ext cx="8151763" cy="19050"/>
          </a:xfrm>
          <a:prstGeom prst="roundRect">
            <a:avLst>
              <a:gd name="adj" fmla="val 669768"/>
            </a:avLst>
          </a:prstGeom>
          <a:solidFill>
            <a:srgbClr val="CED9CE"/>
          </a:solidFill>
          <a:ln/>
        </p:spPr>
        <p:txBody>
          <a:bodyPr/>
          <a:lstStyle/>
          <a:p>
            <a:endParaRPr lang="en-IN"/>
          </a:p>
        </p:txBody>
      </p:sp>
      <p:sp>
        <p:nvSpPr>
          <p:cNvPr id="4" name="Shape 2"/>
          <p:cNvSpPr/>
          <p:nvPr/>
        </p:nvSpPr>
        <p:spPr>
          <a:xfrm>
            <a:off x="1439094" y="2620417"/>
            <a:ext cx="19050" cy="425276"/>
          </a:xfrm>
          <a:prstGeom prst="roundRect">
            <a:avLst>
              <a:gd name="adj" fmla="val 669768"/>
            </a:avLst>
          </a:prstGeom>
          <a:solidFill>
            <a:srgbClr val="CED9CE"/>
          </a:solidFill>
          <a:ln/>
        </p:spPr>
        <p:txBody>
          <a:bodyPr/>
          <a:lstStyle/>
          <a:p>
            <a:endParaRPr lang="en-IN"/>
          </a:p>
        </p:txBody>
      </p:sp>
      <p:sp>
        <p:nvSpPr>
          <p:cNvPr id="5" name="Shape 3"/>
          <p:cNvSpPr/>
          <p:nvPr/>
        </p:nvSpPr>
        <p:spPr>
          <a:xfrm>
            <a:off x="1395487" y="2992562"/>
            <a:ext cx="106263" cy="106263"/>
          </a:xfrm>
          <a:prstGeom prst="roundRect">
            <a:avLst>
              <a:gd name="adj" fmla="val 268908"/>
            </a:avLst>
          </a:prstGeom>
          <a:solidFill>
            <a:srgbClr val="438951"/>
          </a:solidFill>
          <a:ln/>
        </p:spPr>
        <p:txBody>
          <a:bodyPr/>
          <a:lstStyle/>
          <a:p>
            <a:endParaRPr lang="en-IN"/>
          </a:p>
        </p:txBody>
      </p:sp>
      <p:sp>
        <p:nvSpPr>
          <p:cNvPr id="6" name="Shape 4"/>
          <p:cNvSpPr/>
          <p:nvPr/>
        </p:nvSpPr>
        <p:spPr>
          <a:xfrm>
            <a:off x="496119" y="1355303"/>
            <a:ext cx="1905000" cy="816843"/>
          </a:xfrm>
          <a:prstGeom prst="roundRect">
            <a:avLst>
              <a:gd name="adj" fmla="val 15620"/>
            </a:avLst>
          </a:prstGeom>
          <a:solidFill>
            <a:srgbClr val="E8F3E8"/>
          </a:solidFill>
          <a:ln/>
        </p:spPr>
        <p:txBody>
          <a:bodyPr/>
          <a:lstStyle/>
          <a:p>
            <a:endParaRPr lang="en-IN"/>
          </a:p>
        </p:txBody>
      </p:sp>
      <p:sp>
        <p:nvSpPr>
          <p:cNvPr id="7" name="Text 5"/>
          <p:cNvSpPr/>
          <p:nvPr/>
        </p:nvSpPr>
        <p:spPr>
          <a:xfrm>
            <a:off x="637877" y="1497062"/>
            <a:ext cx="1621482"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Import dataset</a:t>
            </a:r>
            <a:endParaRPr lang="en-US" sz="1350" dirty="0"/>
          </a:p>
        </p:txBody>
      </p:sp>
      <p:sp>
        <p:nvSpPr>
          <p:cNvPr id="8" name="Text 6"/>
          <p:cNvSpPr/>
          <p:nvPr/>
        </p:nvSpPr>
        <p:spPr>
          <a:xfrm>
            <a:off x="637877" y="1803574"/>
            <a:ext cx="1621482"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Into Jupyter Notebook</a:t>
            </a:r>
            <a:endParaRPr lang="en-US" sz="1100" dirty="0"/>
          </a:p>
        </p:txBody>
      </p:sp>
      <p:sp>
        <p:nvSpPr>
          <p:cNvPr id="9" name="Shape 7"/>
          <p:cNvSpPr/>
          <p:nvPr/>
        </p:nvSpPr>
        <p:spPr>
          <a:xfrm>
            <a:off x="2480146" y="3045693"/>
            <a:ext cx="19050" cy="425276"/>
          </a:xfrm>
          <a:prstGeom prst="roundRect">
            <a:avLst>
              <a:gd name="adj" fmla="val 669768"/>
            </a:avLst>
          </a:prstGeom>
          <a:solidFill>
            <a:srgbClr val="CED9CE"/>
          </a:solidFill>
          <a:ln/>
        </p:spPr>
        <p:txBody>
          <a:bodyPr/>
          <a:lstStyle/>
          <a:p>
            <a:endParaRPr lang="en-IN"/>
          </a:p>
        </p:txBody>
      </p:sp>
      <p:sp>
        <p:nvSpPr>
          <p:cNvPr id="10" name="Shape 8"/>
          <p:cNvSpPr/>
          <p:nvPr/>
        </p:nvSpPr>
        <p:spPr>
          <a:xfrm>
            <a:off x="2436540" y="2992562"/>
            <a:ext cx="106263" cy="106263"/>
          </a:xfrm>
          <a:prstGeom prst="roundRect">
            <a:avLst>
              <a:gd name="adj" fmla="val 268908"/>
            </a:avLst>
          </a:prstGeom>
          <a:solidFill>
            <a:srgbClr val="438951"/>
          </a:solidFill>
          <a:ln/>
        </p:spPr>
        <p:txBody>
          <a:bodyPr/>
          <a:lstStyle/>
          <a:p>
            <a:endParaRPr lang="en-IN"/>
          </a:p>
        </p:txBody>
      </p:sp>
      <p:sp>
        <p:nvSpPr>
          <p:cNvPr id="11" name="Shape 9"/>
          <p:cNvSpPr/>
          <p:nvPr/>
        </p:nvSpPr>
        <p:spPr>
          <a:xfrm>
            <a:off x="1537171" y="3470970"/>
            <a:ext cx="1905074" cy="816843"/>
          </a:xfrm>
          <a:prstGeom prst="roundRect">
            <a:avLst>
              <a:gd name="adj" fmla="val 15620"/>
            </a:avLst>
          </a:prstGeom>
          <a:solidFill>
            <a:srgbClr val="E8F3E8"/>
          </a:solidFill>
          <a:ln/>
        </p:spPr>
        <p:txBody>
          <a:bodyPr/>
          <a:lstStyle/>
          <a:p>
            <a:endParaRPr lang="en-IN"/>
          </a:p>
        </p:txBody>
      </p:sp>
      <p:sp>
        <p:nvSpPr>
          <p:cNvPr id="12" name="Text 10"/>
          <p:cNvSpPr/>
          <p:nvPr/>
        </p:nvSpPr>
        <p:spPr>
          <a:xfrm>
            <a:off x="1678930" y="3612728"/>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Explore data</a:t>
            </a:r>
            <a:endParaRPr lang="en-US" sz="1350" dirty="0"/>
          </a:p>
        </p:txBody>
      </p:sp>
      <p:sp>
        <p:nvSpPr>
          <p:cNvPr id="13" name="Text 11"/>
          <p:cNvSpPr/>
          <p:nvPr/>
        </p:nvSpPr>
        <p:spPr>
          <a:xfrm>
            <a:off x="1678930" y="3919240"/>
            <a:ext cx="1621557"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Using Pandas</a:t>
            </a:r>
            <a:endParaRPr lang="en-US" sz="1100" dirty="0"/>
          </a:p>
        </p:txBody>
      </p:sp>
      <p:sp>
        <p:nvSpPr>
          <p:cNvPr id="14" name="Shape 12"/>
          <p:cNvSpPr/>
          <p:nvPr/>
        </p:nvSpPr>
        <p:spPr>
          <a:xfrm>
            <a:off x="3521273" y="2620417"/>
            <a:ext cx="19050" cy="425276"/>
          </a:xfrm>
          <a:prstGeom prst="roundRect">
            <a:avLst>
              <a:gd name="adj" fmla="val 669768"/>
            </a:avLst>
          </a:prstGeom>
          <a:solidFill>
            <a:srgbClr val="CED9CE"/>
          </a:solidFill>
          <a:ln/>
        </p:spPr>
        <p:txBody>
          <a:bodyPr/>
          <a:lstStyle/>
          <a:p>
            <a:endParaRPr lang="en-IN"/>
          </a:p>
        </p:txBody>
      </p:sp>
      <p:sp>
        <p:nvSpPr>
          <p:cNvPr id="15" name="Shape 13"/>
          <p:cNvSpPr/>
          <p:nvPr/>
        </p:nvSpPr>
        <p:spPr>
          <a:xfrm>
            <a:off x="3477667" y="2992562"/>
            <a:ext cx="106263" cy="106263"/>
          </a:xfrm>
          <a:prstGeom prst="roundRect">
            <a:avLst>
              <a:gd name="adj" fmla="val 268908"/>
            </a:avLst>
          </a:prstGeom>
          <a:solidFill>
            <a:srgbClr val="438951"/>
          </a:solidFill>
          <a:ln/>
        </p:spPr>
        <p:txBody>
          <a:bodyPr/>
          <a:lstStyle/>
          <a:p>
            <a:endParaRPr lang="en-IN"/>
          </a:p>
        </p:txBody>
      </p:sp>
      <p:sp>
        <p:nvSpPr>
          <p:cNvPr id="16" name="Shape 14"/>
          <p:cNvSpPr/>
          <p:nvPr/>
        </p:nvSpPr>
        <p:spPr>
          <a:xfrm>
            <a:off x="2578298" y="1355303"/>
            <a:ext cx="1905074" cy="1043657"/>
          </a:xfrm>
          <a:prstGeom prst="roundRect">
            <a:avLst>
              <a:gd name="adj" fmla="val 12225"/>
            </a:avLst>
          </a:prstGeom>
          <a:solidFill>
            <a:srgbClr val="E8F3E8"/>
          </a:solidFill>
          <a:ln/>
        </p:spPr>
        <p:txBody>
          <a:bodyPr/>
          <a:lstStyle/>
          <a:p>
            <a:endParaRPr lang="en-IN"/>
          </a:p>
        </p:txBody>
      </p:sp>
      <p:sp>
        <p:nvSpPr>
          <p:cNvPr id="17" name="Text 15"/>
          <p:cNvSpPr/>
          <p:nvPr/>
        </p:nvSpPr>
        <p:spPr>
          <a:xfrm>
            <a:off x="2720057" y="1497062"/>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Clean data</a:t>
            </a:r>
            <a:endParaRPr lang="en-US" sz="1350" dirty="0"/>
          </a:p>
        </p:txBody>
      </p:sp>
      <p:sp>
        <p:nvSpPr>
          <p:cNvPr id="18" name="Text 16"/>
          <p:cNvSpPr/>
          <p:nvPr/>
        </p:nvSpPr>
        <p:spPr>
          <a:xfrm>
            <a:off x="2720057" y="1803574"/>
            <a:ext cx="1621557"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Remove missing or unnecessary data</a:t>
            </a:r>
            <a:endParaRPr lang="en-US" sz="1100" dirty="0"/>
          </a:p>
        </p:txBody>
      </p:sp>
      <p:sp>
        <p:nvSpPr>
          <p:cNvPr id="19" name="Shape 17"/>
          <p:cNvSpPr/>
          <p:nvPr/>
        </p:nvSpPr>
        <p:spPr>
          <a:xfrm>
            <a:off x="4562401" y="3045693"/>
            <a:ext cx="19050" cy="425276"/>
          </a:xfrm>
          <a:prstGeom prst="roundRect">
            <a:avLst>
              <a:gd name="adj" fmla="val 669768"/>
            </a:avLst>
          </a:prstGeom>
          <a:solidFill>
            <a:srgbClr val="CED9CE"/>
          </a:solidFill>
          <a:ln/>
        </p:spPr>
        <p:txBody>
          <a:bodyPr/>
          <a:lstStyle/>
          <a:p>
            <a:endParaRPr lang="en-IN"/>
          </a:p>
        </p:txBody>
      </p:sp>
      <p:sp>
        <p:nvSpPr>
          <p:cNvPr id="20" name="Shape 18"/>
          <p:cNvSpPr/>
          <p:nvPr/>
        </p:nvSpPr>
        <p:spPr>
          <a:xfrm>
            <a:off x="4518794" y="2992562"/>
            <a:ext cx="106263" cy="106263"/>
          </a:xfrm>
          <a:prstGeom prst="roundRect">
            <a:avLst>
              <a:gd name="adj" fmla="val 268908"/>
            </a:avLst>
          </a:prstGeom>
          <a:solidFill>
            <a:srgbClr val="438951"/>
          </a:solidFill>
          <a:ln/>
        </p:spPr>
        <p:txBody>
          <a:bodyPr/>
          <a:lstStyle/>
          <a:p>
            <a:endParaRPr lang="en-IN"/>
          </a:p>
        </p:txBody>
      </p:sp>
      <p:sp>
        <p:nvSpPr>
          <p:cNvPr id="21" name="Shape 19"/>
          <p:cNvSpPr/>
          <p:nvPr/>
        </p:nvSpPr>
        <p:spPr>
          <a:xfrm>
            <a:off x="3619426" y="3470970"/>
            <a:ext cx="1905074" cy="1038299"/>
          </a:xfrm>
          <a:prstGeom prst="roundRect">
            <a:avLst>
              <a:gd name="adj" fmla="val 12288"/>
            </a:avLst>
          </a:prstGeom>
          <a:solidFill>
            <a:srgbClr val="E8F3E8"/>
          </a:solidFill>
          <a:ln/>
        </p:spPr>
        <p:txBody>
          <a:bodyPr/>
          <a:lstStyle/>
          <a:p>
            <a:endParaRPr lang="en-IN"/>
          </a:p>
        </p:txBody>
      </p:sp>
      <p:sp>
        <p:nvSpPr>
          <p:cNvPr id="22" name="Text 20"/>
          <p:cNvSpPr/>
          <p:nvPr/>
        </p:nvSpPr>
        <p:spPr>
          <a:xfrm>
            <a:off x="3761184" y="3612728"/>
            <a:ext cx="1621557" cy="442913"/>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Statistical analysis</a:t>
            </a:r>
            <a:endParaRPr lang="en-US" sz="1350" dirty="0"/>
          </a:p>
        </p:txBody>
      </p:sp>
      <p:sp>
        <p:nvSpPr>
          <p:cNvPr id="23" name="Text 21"/>
          <p:cNvSpPr/>
          <p:nvPr/>
        </p:nvSpPr>
        <p:spPr>
          <a:xfrm>
            <a:off x="3761184" y="4140696"/>
            <a:ext cx="1621557"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Perform core analysis</a:t>
            </a:r>
            <a:endParaRPr lang="en-US" sz="1100" dirty="0"/>
          </a:p>
        </p:txBody>
      </p:sp>
      <p:sp>
        <p:nvSpPr>
          <p:cNvPr id="24" name="Shape 22"/>
          <p:cNvSpPr/>
          <p:nvPr/>
        </p:nvSpPr>
        <p:spPr>
          <a:xfrm>
            <a:off x="5603528" y="2620417"/>
            <a:ext cx="19050" cy="425276"/>
          </a:xfrm>
          <a:prstGeom prst="roundRect">
            <a:avLst>
              <a:gd name="adj" fmla="val 669768"/>
            </a:avLst>
          </a:prstGeom>
          <a:solidFill>
            <a:srgbClr val="CED9CE"/>
          </a:solidFill>
          <a:ln/>
        </p:spPr>
        <p:txBody>
          <a:bodyPr/>
          <a:lstStyle/>
          <a:p>
            <a:endParaRPr lang="en-IN"/>
          </a:p>
        </p:txBody>
      </p:sp>
      <p:sp>
        <p:nvSpPr>
          <p:cNvPr id="25" name="Shape 23"/>
          <p:cNvSpPr/>
          <p:nvPr/>
        </p:nvSpPr>
        <p:spPr>
          <a:xfrm>
            <a:off x="5559921" y="2992562"/>
            <a:ext cx="106263" cy="106263"/>
          </a:xfrm>
          <a:prstGeom prst="roundRect">
            <a:avLst>
              <a:gd name="adj" fmla="val 268908"/>
            </a:avLst>
          </a:prstGeom>
          <a:solidFill>
            <a:srgbClr val="438951"/>
          </a:solidFill>
          <a:ln/>
        </p:spPr>
        <p:txBody>
          <a:bodyPr/>
          <a:lstStyle/>
          <a:p>
            <a:endParaRPr lang="en-IN"/>
          </a:p>
        </p:txBody>
      </p:sp>
      <p:sp>
        <p:nvSpPr>
          <p:cNvPr id="26" name="Shape 24"/>
          <p:cNvSpPr/>
          <p:nvPr/>
        </p:nvSpPr>
        <p:spPr>
          <a:xfrm>
            <a:off x="4660553" y="1355303"/>
            <a:ext cx="1905074" cy="1265113"/>
          </a:xfrm>
          <a:prstGeom prst="roundRect">
            <a:avLst>
              <a:gd name="adj" fmla="val 10085"/>
            </a:avLst>
          </a:prstGeom>
          <a:solidFill>
            <a:srgbClr val="E8F3E8"/>
          </a:solidFill>
          <a:ln/>
        </p:spPr>
        <p:txBody>
          <a:bodyPr/>
          <a:lstStyle/>
          <a:p>
            <a:endParaRPr lang="en-IN"/>
          </a:p>
        </p:txBody>
      </p:sp>
      <p:sp>
        <p:nvSpPr>
          <p:cNvPr id="27" name="Text 25"/>
          <p:cNvSpPr/>
          <p:nvPr/>
        </p:nvSpPr>
        <p:spPr>
          <a:xfrm>
            <a:off x="4802312" y="1497062"/>
            <a:ext cx="1621557" cy="442913"/>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Generate visualizations</a:t>
            </a:r>
            <a:endParaRPr lang="en-US" sz="1350" dirty="0"/>
          </a:p>
        </p:txBody>
      </p:sp>
      <p:sp>
        <p:nvSpPr>
          <p:cNvPr id="28" name="Text 26"/>
          <p:cNvSpPr/>
          <p:nvPr/>
        </p:nvSpPr>
        <p:spPr>
          <a:xfrm>
            <a:off x="4802312" y="2025030"/>
            <a:ext cx="1621557"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Create charts and graphics</a:t>
            </a:r>
            <a:endParaRPr lang="en-US" sz="1100" dirty="0"/>
          </a:p>
        </p:txBody>
      </p:sp>
      <p:sp>
        <p:nvSpPr>
          <p:cNvPr id="29" name="Shape 27"/>
          <p:cNvSpPr/>
          <p:nvPr/>
        </p:nvSpPr>
        <p:spPr>
          <a:xfrm>
            <a:off x="6644655" y="3045693"/>
            <a:ext cx="19050" cy="425276"/>
          </a:xfrm>
          <a:prstGeom prst="roundRect">
            <a:avLst>
              <a:gd name="adj" fmla="val 669768"/>
            </a:avLst>
          </a:prstGeom>
          <a:solidFill>
            <a:srgbClr val="CED9CE"/>
          </a:solidFill>
          <a:ln/>
        </p:spPr>
        <p:txBody>
          <a:bodyPr/>
          <a:lstStyle/>
          <a:p>
            <a:endParaRPr lang="en-IN"/>
          </a:p>
        </p:txBody>
      </p:sp>
      <p:sp>
        <p:nvSpPr>
          <p:cNvPr id="30" name="Shape 28"/>
          <p:cNvSpPr/>
          <p:nvPr/>
        </p:nvSpPr>
        <p:spPr>
          <a:xfrm>
            <a:off x="6601048" y="2992562"/>
            <a:ext cx="106263" cy="106263"/>
          </a:xfrm>
          <a:prstGeom prst="roundRect">
            <a:avLst>
              <a:gd name="adj" fmla="val 268908"/>
            </a:avLst>
          </a:prstGeom>
          <a:solidFill>
            <a:srgbClr val="438951"/>
          </a:solidFill>
          <a:ln/>
        </p:spPr>
        <p:txBody>
          <a:bodyPr/>
          <a:lstStyle/>
          <a:p>
            <a:endParaRPr lang="en-IN"/>
          </a:p>
        </p:txBody>
      </p:sp>
      <p:sp>
        <p:nvSpPr>
          <p:cNvPr id="31" name="Shape 29"/>
          <p:cNvSpPr/>
          <p:nvPr/>
        </p:nvSpPr>
        <p:spPr>
          <a:xfrm>
            <a:off x="5701680" y="3470970"/>
            <a:ext cx="1905074" cy="1043657"/>
          </a:xfrm>
          <a:prstGeom prst="roundRect">
            <a:avLst>
              <a:gd name="adj" fmla="val 12225"/>
            </a:avLst>
          </a:prstGeom>
          <a:solidFill>
            <a:srgbClr val="E8F3E8"/>
          </a:solidFill>
          <a:ln/>
        </p:spPr>
        <p:txBody>
          <a:bodyPr/>
          <a:lstStyle/>
          <a:p>
            <a:endParaRPr lang="en-IN"/>
          </a:p>
        </p:txBody>
      </p:sp>
      <p:sp>
        <p:nvSpPr>
          <p:cNvPr id="32" name="Text 30"/>
          <p:cNvSpPr/>
          <p:nvPr/>
        </p:nvSpPr>
        <p:spPr>
          <a:xfrm>
            <a:off x="5843439" y="3612728"/>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Analyze patterns</a:t>
            </a:r>
            <a:endParaRPr lang="en-US" sz="1350" dirty="0"/>
          </a:p>
        </p:txBody>
      </p:sp>
      <p:sp>
        <p:nvSpPr>
          <p:cNvPr id="33" name="Text 31"/>
          <p:cNvSpPr/>
          <p:nvPr/>
        </p:nvSpPr>
        <p:spPr>
          <a:xfrm>
            <a:off x="5843439" y="3919240"/>
            <a:ext cx="1621557"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Trends, distributions, and correlations</a:t>
            </a:r>
            <a:endParaRPr lang="en-US" sz="1100" dirty="0"/>
          </a:p>
        </p:txBody>
      </p:sp>
      <p:sp>
        <p:nvSpPr>
          <p:cNvPr id="34" name="Shape 32"/>
          <p:cNvSpPr/>
          <p:nvPr/>
        </p:nvSpPr>
        <p:spPr>
          <a:xfrm>
            <a:off x="7685782" y="2620417"/>
            <a:ext cx="19050" cy="425276"/>
          </a:xfrm>
          <a:prstGeom prst="roundRect">
            <a:avLst>
              <a:gd name="adj" fmla="val 669768"/>
            </a:avLst>
          </a:prstGeom>
          <a:solidFill>
            <a:srgbClr val="CED9CE"/>
          </a:solidFill>
          <a:ln/>
        </p:spPr>
        <p:txBody>
          <a:bodyPr/>
          <a:lstStyle/>
          <a:p>
            <a:endParaRPr lang="en-IN"/>
          </a:p>
        </p:txBody>
      </p:sp>
      <p:sp>
        <p:nvSpPr>
          <p:cNvPr id="35" name="Shape 33"/>
          <p:cNvSpPr/>
          <p:nvPr/>
        </p:nvSpPr>
        <p:spPr>
          <a:xfrm>
            <a:off x="7642175" y="2992562"/>
            <a:ext cx="106263" cy="106263"/>
          </a:xfrm>
          <a:prstGeom prst="roundRect">
            <a:avLst>
              <a:gd name="adj" fmla="val 268908"/>
            </a:avLst>
          </a:prstGeom>
          <a:solidFill>
            <a:srgbClr val="438951"/>
          </a:solidFill>
          <a:ln/>
        </p:spPr>
        <p:txBody>
          <a:bodyPr/>
          <a:lstStyle/>
          <a:p>
            <a:endParaRPr lang="en-IN"/>
          </a:p>
        </p:txBody>
      </p:sp>
      <p:sp>
        <p:nvSpPr>
          <p:cNvPr id="36" name="Shape 34"/>
          <p:cNvSpPr/>
          <p:nvPr/>
        </p:nvSpPr>
        <p:spPr>
          <a:xfrm>
            <a:off x="6742807" y="1355303"/>
            <a:ext cx="1905074" cy="816843"/>
          </a:xfrm>
          <a:prstGeom prst="roundRect">
            <a:avLst>
              <a:gd name="adj" fmla="val 15620"/>
            </a:avLst>
          </a:prstGeom>
          <a:solidFill>
            <a:srgbClr val="E8F3E8"/>
          </a:solidFill>
          <a:ln/>
        </p:spPr>
        <p:txBody>
          <a:bodyPr/>
          <a:lstStyle/>
          <a:p>
            <a:endParaRPr lang="en-IN"/>
          </a:p>
        </p:txBody>
      </p:sp>
      <p:sp>
        <p:nvSpPr>
          <p:cNvPr id="37" name="Text 35"/>
          <p:cNvSpPr/>
          <p:nvPr/>
        </p:nvSpPr>
        <p:spPr>
          <a:xfrm>
            <a:off x="6884566" y="1497062"/>
            <a:ext cx="1621557" cy="221456"/>
          </a:xfrm>
          <a:prstGeom prst="rect">
            <a:avLst/>
          </a:prstGeom>
          <a:noFill/>
          <a:ln/>
        </p:spPr>
        <p:txBody>
          <a:bodyPr wrap="none" lIns="0" tIns="0" rIns="0" bIns="0" rtlCol="0" anchor="t"/>
          <a:lstStyle/>
          <a:p>
            <a:pPr marL="0" indent="0" algn="ctr">
              <a:lnSpc>
                <a:spcPct val="104000"/>
              </a:lnSpc>
              <a:buNone/>
            </a:pPr>
            <a:r>
              <a:rPr lang="en-US" sz="1350" dirty="0">
                <a:solidFill>
                  <a:srgbClr val="405449"/>
                </a:solidFill>
                <a:latin typeface="Fraunces ExtraBold" pitchFamily="34" charset="0"/>
                <a:ea typeface="Fraunces ExtraBold" pitchFamily="34" charset="-122"/>
                <a:cs typeface="Fraunces ExtraBold" pitchFamily="34" charset="-120"/>
              </a:rPr>
              <a:t>Interpret results</a:t>
            </a:r>
            <a:endParaRPr lang="en-US" sz="1350" dirty="0"/>
          </a:p>
        </p:txBody>
      </p:sp>
      <p:sp>
        <p:nvSpPr>
          <p:cNvPr id="38" name="Text 36"/>
          <p:cNvSpPr/>
          <p:nvPr/>
        </p:nvSpPr>
        <p:spPr>
          <a:xfrm>
            <a:off x="6884566" y="1803574"/>
            <a:ext cx="1621557" cy="226814"/>
          </a:xfrm>
          <a:prstGeom prst="rect">
            <a:avLst/>
          </a:prstGeom>
          <a:noFill/>
          <a:ln/>
        </p:spPr>
        <p:txBody>
          <a:bodyPr wrap="none" lIns="0" tIns="0" rIns="0" bIns="0" rtlCol="0" anchor="t"/>
          <a:lstStyle/>
          <a:p>
            <a:pPr marL="0" indent="0" algn="ctr">
              <a:lnSpc>
                <a:spcPct val="133000"/>
              </a:lnSpc>
              <a:buNone/>
            </a:pPr>
            <a:r>
              <a:rPr lang="en-US" sz="1100" dirty="0">
                <a:solidFill>
                  <a:srgbClr val="405449"/>
                </a:solidFill>
                <a:latin typeface="Nobile" pitchFamily="34" charset="0"/>
                <a:ea typeface="Nobile" pitchFamily="34" charset="-122"/>
                <a:cs typeface="Nobile" pitchFamily="34" charset="-120"/>
              </a:rPr>
              <a:t>Draw final conclusions</a:t>
            </a:r>
            <a:endParaRPr lang="en-US" sz="1100" dirty="0"/>
          </a:p>
        </p:txBody>
      </p:sp>
      <p:sp>
        <p:nvSpPr>
          <p:cNvPr id="39" name="Rectangle 38">
            <a:extLst>
              <a:ext uri="{FF2B5EF4-FFF2-40B4-BE49-F238E27FC236}">
                <a16:creationId xmlns:a16="http://schemas.microsoft.com/office/drawing/2014/main" id="{3634BC2C-E35B-8D95-AC65-C03C74C610C5}"/>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79450"/>
            <a:ext cx="3469704" cy="376535"/>
          </a:xfrm>
          <a:prstGeom prst="rect">
            <a:avLst/>
          </a:prstGeom>
          <a:noFill/>
          <a:ln/>
        </p:spPr>
        <p:txBody>
          <a:bodyPr wrap="none" lIns="0" tIns="0" rIns="0" bIns="0" rtlCol="0" anchor="t"/>
          <a:lstStyle/>
          <a:p>
            <a:pPr marL="0" indent="0" algn="l">
              <a:lnSpc>
                <a:spcPct val="104000"/>
              </a:lnSpc>
              <a:buNone/>
            </a:pPr>
            <a:r>
              <a:rPr lang="en-US" sz="2350" dirty="0">
                <a:solidFill>
                  <a:srgbClr val="3B4540"/>
                </a:solidFill>
                <a:latin typeface="Fraunces ExtraBold" pitchFamily="34" charset="0"/>
                <a:ea typeface="Fraunces ExtraBold" pitchFamily="34" charset="-122"/>
                <a:cs typeface="Fraunces ExtraBold" pitchFamily="34" charset="-120"/>
              </a:rPr>
              <a:t>Outputs</a:t>
            </a:r>
            <a:endParaRPr lang="en-US" sz="2350" dirty="0"/>
          </a:p>
        </p:txBody>
      </p:sp>
      <p:sp>
        <p:nvSpPr>
          <p:cNvPr id="3" name="Shape 1"/>
          <p:cNvSpPr/>
          <p:nvPr/>
        </p:nvSpPr>
        <p:spPr>
          <a:xfrm>
            <a:off x="496119" y="1060772"/>
            <a:ext cx="4024685" cy="1132805"/>
          </a:xfrm>
          <a:prstGeom prst="roundRect">
            <a:avLst>
              <a:gd name="adj" fmla="val 9574"/>
            </a:avLst>
          </a:prstGeom>
          <a:solidFill>
            <a:srgbClr val="E8F3E8"/>
          </a:solidFill>
          <a:ln/>
        </p:spPr>
        <p:txBody>
          <a:bodyPr/>
          <a:lstStyle/>
          <a:p>
            <a:endParaRPr lang="en-IN"/>
          </a:p>
        </p:txBody>
      </p:sp>
      <p:sp>
        <p:nvSpPr>
          <p:cNvPr id="4" name="Shape 2"/>
          <p:cNvSpPr/>
          <p:nvPr/>
        </p:nvSpPr>
        <p:spPr>
          <a:xfrm>
            <a:off x="616595" y="1181249"/>
            <a:ext cx="361504" cy="361504"/>
          </a:xfrm>
          <a:prstGeom prst="roundRect">
            <a:avLst>
              <a:gd name="adj" fmla="val 15807373"/>
            </a:avLst>
          </a:prstGeom>
          <a:solidFill>
            <a:srgbClr val="438951"/>
          </a:solidFill>
          <a:ln/>
        </p:spPr>
        <p:txBody>
          <a:bodyPr/>
          <a:lstStyle/>
          <a:p>
            <a:endParaRPr lang="en-IN"/>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012" y="1280666"/>
            <a:ext cx="162669" cy="162669"/>
          </a:xfrm>
          <a:prstGeom prst="rect">
            <a:avLst/>
          </a:prstGeom>
        </p:spPr>
      </p:pic>
      <p:sp>
        <p:nvSpPr>
          <p:cNvPr id="6" name="Text 3"/>
          <p:cNvSpPr/>
          <p:nvPr/>
        </p:nvSpPr>
        <p:spPr>
          <a:xfrm>
            <a:off x="616595" y="1645146"/>
            <a:ext cx="1506215"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Age distribution</a:t>
            </a:r>
            <a:endParaRPr lang="en-US" sz="1150" dirty="0"/>
          </a:p>
        </p:txBody>
      </p:sp>
      <p:sp>
        <p:nvSpPr>
          <p:cNvPr id="7" name="Text 4"/>
          <p:cNvSpPr/>
          <p:nvPr/>
        </p:nvSpPr>
        <p:spPr>
          <a:xfrm>
            <a:off x="616595" y="1894805"/>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Generated histograms to study participant age patterns.</a:t>
            </a:r>
            <a:endParaRPr lang="en-US" sz="900" dirty="0"/>
          </a:p>
        </p:txBody>
      </p:sp>
      <p:sp>
        <p:nvSpPr>
          <p:cNvPr id="8" name="Shape 5"/>
          <p:cNvSpPr/>
          <p:nvPr/>
        </p:nvSpPr>
        <p:spPr>
          <a:xfrm>
            <a:off x="4623197" y="1060772"/>
            <a:ext cx="4024685" cy="1132805"/>
          </a:xfrm>
          <a:prstGeom prst="roundRect">
            <a:avLst>
              <a:gd name="adj" fmla="val 9574"/>
            </a:avLst>
          </a:prstGeom>
          <a:solidFill>
            <a:srgbClr val="E8F3E8"/>
          </a:solidFill>
          <a:ln/>
        </p:spPr>
        <p:txBody>
          <a:bodyPr/>
          <a:lstStyle/>
          <a:p>
            <a:endParaRPr lang="en-IN"/>
          </a:p>
        </p:txBody>
      </p:sp>
      <p:sp>
        <p:nvSpPr>
          <p:cNvPr id="9" name="Shape 6"/>
          <p:cNvSpPr/>
          <p:nvPr/>
        </p:nvSpPr>
        <p:spPr>
          <a:xfrm>
            <a:off x="4743673" y="1181249"/>
            <a:ext cx="361504" cy="361504"/>
          </a:xfrm>
          <a:prstGeom prst="roundRect">
            <a:avLst>
              <a:gd name="adj" fmla="val 15807373"/>
            </a:avLst>
          </a:prstGeom>
          <a:solidFill>
            <a:srgbClr val="438951"/>
          </a:solidFill>
          <a:ln/>
        </p:spPr>
        <p:txBody>
          <a:bodyPr/>
          <a:lstStyle/>
          <a:p>
            <a:endParaRPr lang="en-IN"/>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3090" y="1280666"/>
            <a:ext cx="162669" cy="162669"/>
          </a:xfrm>
          <a:prstGeom prst="rect">
            <a:avLst/>
          </a:prstGeom>
        </p:spPr>
      </p:pic>
      <p:sp>
        <p:nvSpPr>
          <p:cNvPr id="11" name="Text 7"/>
          <p:cNvSpPr/>
          <p:nvPr/>
        </p:nvSpPr>
        <p:spPr>
          <a:xfrm>
            <a:off x="4743673" y="1645146"/>
            <a:ext cx="1547217"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Platform popularity</a:t>
            </a:r>
            <a:endParaRPr lang="en-US" sz="1150" dirty="0"/>
          </a:p>
        </p:txBody>
      </p:sp>
      <p:sp>
        <p:nvSpPr>
          <p:cNvPr id="12" name="Text 8"/>
          <p:cNvSpPr/>
          <p:nvPr/>
        </p:nvSpPr>
        <p:spPr>
          <a:xfrm>
            <a:off x="4743673" y="1894805"/>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Created pie charts showing music streaming platform popularity.</a:t>
            </a:r>
            <a:endParaRPr lang="en-US" sz="900" dirty="0"/>
          </a:p>
        </p:txBody>
      </p:sp>
      <p:sp>
        <p:nvSpPr>
          <p:cNvPr id="13" name="Shape 9"/>
          <p:cNvSpPr/>
          <p:nvPr/>
        </p:nvSpPr>
        <p:spPr>
          <a:xfrm>
            <a:off x="496119" y="2295971"/>
            <a:ext cx="4024685" cy="1132805"/>
          </a:xfrm>
          <a:prstGeom prst="roundRect">
            <a:avLst>
              <a:gd name="adj" fmla="val 9574"/>
            </a:avLst>
          </a:prstGeom>
          <a:solidFill>
            <a:srgbClr val="E8F3E8"/>
          </a:solidFill>
          <a:ln/>
        </p:spPr>
        <p:txBody>
          <a:bodyPr/>
          <a:lstStyle/>
          <a:p>
            <a:endParaRPr lang="en-IN"/>
          </a:p>
        </p:txBody>
      </p:sp>
      <p:sp>
        <p:nvSpPr>
          <p:cNvPr id="14" name="Shape 10"/>
          <p:cNvSpPr/>
          <p:nvPr/>
        </p:nvSpPr>
        <p:spPr>
          <a:xfrm>
            <a:off x="616595" y="2416448"/>
            <a:ext cx="361504" cy="361504"/>
          </a:xfrm>
          <a:prstGeom prst="roundRect">
            <a:avLst>
              <a:gd name="adj" fmla="val 15807373"/>
            </a:avLst>
          </a:prstGeom>
          <a:solidFill>
            <a:srgbClr val="438951"/>
          </a:solidFill>
          <a:ln/>
        </p:spPr>
        <p:txBody>
          <a:bodyPr/>
          <a:lstStyle/>
          <a:p>
            <a:endParaRPr lang="en-IN"/>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6012" y="2515865"/>
            <a:ext cx="162669" cy="162669"/>
          </a:xfrm>
          <a:prstGeom prst="rect">
            <a:avLst/>
          </a:prstGeom>
        </p:spPr>
      </p:pic>
      <p:sp>
        <p:nvSpPr>
          <p:cNvPr id="16" name="Text 11"/>
          <p:cNvSpPr/>
          <p:nvPr/>
        </p:nvSpPr>
        <p:spPr>
          <a:xfrm>
            <a:off x="616595" y="2880345"/>
            <a:ext cx="1722388"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Age group comparison</a:t>
            </a:r>
            <a:endParaRPr lang="en-US" sz="1150" dirty="0"/>
          </a:p>
        </p:txBody>
      </p:sp>
      <p:sp>
        <p:nvSpPr>
          <p:cNvPr id="17" name="Text 12"/>
          <p:cNvSpPr/>
          <p:nvPr/>
        </p:nvSpPr>
        <p:spPr>
          <a:xfrm>
            <a:off x="616595" y="3130004"/>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Used boxplots to compare age groups across streaming services.</a:t>
            </a:r>
            <a:endParaRPr lang="en-US" sz="900" dirty="0"/>
          </a:p>
        </p:txBody>
      </p:sp>
      <p:sp>
        <p:nvSpPr>
          <p:cNvPr id="18" name="Shape 13"/>
          <p:cNvSpPr/>
          <p:nvPr/>
        </p:nvSpPr>
        <p:spPr>
          <a:xfrm>
            <a:off x="4623197" y="2295971"/>
            <a:ext cx="4024685" cy="1132805"/>
          </a:xfrm>
          <a:prstGeom prst="roundRect">
            <a:avLst>
              <a:gd name="adj" fmla="val 9574"/>
            </a:avLst>
          </a:prstGeom>
          <a:solidFill>
            <a:srgbClr val="E8F3E8"/>
          </a:solidFill>
          <a:ln/>
        </p:spPr>
        <p:txBody>
          <a:bodyPr/>
          <a:lstStyle/>
          <a:p>
            <a:endParaRPr lang="en-IN"/>
          </a:p>
        </p:txBody>
      </p:sp>
      <p:sp>
        <p:nvSpPr>
          <p:cNvPr id="19" name="Shape 14"/>
          <p:cNvSpPr/>
          <p:nvPr/>
        </p:nvSpPr>
        <p:spPr>
          <a:xfrm>
            <a:off x="4743673" y="2416448"/>
            <a:ext cx="361504" cy="361504"/>
          </a:xfrm>
          <a:prstGeom prst="roundRect">
            <a:avLst>
              <a:gd name="adj" fmla="val 15807373"/>
            </a:avLst>
          </a:prstGeom>
          <a:solidFill>
            <a:srgbClr val="438951"/>
          </a:solidFill>
          <a:ln/>
        </p:spPr>
        <p:txBody>
          <a:bodyPr/>
          <a:lstStyle/>
          <a:p>
            <a:endParaRPr lang="en-IN"/>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43090" y="2515865"/>
            <a:ext cx="162669" cy="162669"/>
          </a:xfrm>
          <a:prstGeom prst="rect">
            <a:avLst/>
          </a:prstGeom>
        </p:spPr>
      </p:pic>
      <p:sp>
        <p:nvSpPr>
          <p:cNvPr id="21" name="Text 15"/>
          <p:cNvSpPr/>
          <p:nvPr/>
        </p:nvSpPr>
        <p:spPr>
          <a:xfrm>
            <a:off x="4743673" y="2880345"/>
            <a:ext cx="1506215"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Mental health data</a:t>
            </a:r>
            <a:endParaRPr lang="en-US" sz="1150" dirty="0"/>
          </a:p>
        </p:txBody>
      </p:sp>
      <p:sp>
        <p:nvSpPr>
          <p:cNvPr id="22" name="Text 16"/>
          <p:cNvSpPr/>
          <p:nvPr/>
        </p:nvSpPr>
        <p:spPr>
          <a:xfrm>
            <a:off x="4743673" y="3130004"/>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Visualized anxiety, depression, insomnia, and OCD data.</a:t>
            </a:r>
            <a:endParaRPr lang="en-US" sz="900" dirty="0"/>
          </a:p>
        </p:txBody>
      </p:sp>
      <p:sp>
        <p:nvSpPr>
          <p:cNvPr id="23" name="Shape 17"/>
          <p:cNvSpPr/>
          <p:nvPr/>
        </p:nvSpPr>
        <p:spPr>
          <a:xfrm>
            <a:off x="496119" y="3531171"/>
            <a:ext cx="4024685" cy="1132805"/>
          </a:xfrm>
          <a:prstGeom prst="roundRect">
            <a:avLst>
              <a:gd name="adj" fmla="val 9574"/>
            </a:avLst>
          </a:prstGeom>
          <a:solidFill>
            <a:srgbClr val="E8F3E8"/>
          </a:solidFill>
          <a:ln/>
        </p:spPr>
        <p:txBody>
          <a:bodyPr/>
          <a:lstStyle/>
          <a:p>
            <a:endParaRPr lang="en-IN"/>
          </a:p>
        </p:txBody>
      </p:sp>
      <p:sp>
        <p:nvSpPr>
          <p:cNvPr id="24" name="Shape 18"/>
          <p:cNvSpPr/>
          <p:nvPr/>
        </p:nvSpPr>
        <p:spPr>
          <a:xfrm>
            <a:off x="616595" y="3651647"/>
            <a:ext cx="361504" cy="361504"/>
          </a:xfrm>
          <a:prstGeom prst="roundRect">
            <a:avLst>
              <a:gd name="adj" fmla="val 15807373"/>
            </a:avLst>
          </a:prstGeom>
          <a:solidFill>
            <a:srgbClr val="438951"/>
          </a:solidFill>
          <a:ln/>
        </p:spPr>
        <p:txBody>
          <a:bodyPr/>
          <a:lstStyle/>
          <a:p>
            <a:endParaRPr lang="en-IN"/>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012" y="3751064"/>
            <a:ext cx="162669" cy="162669"/>
          </a:xfrm>
          <a:prstGeom prst="rect">
            <a:avLst/>
          </a:prstGeom>
        </p:spPr>
      </p:pic>
      <p:sp>
        <p:nvSpPr>
          <p:cNvPr id="26" name="Text 19"/>
          <p:cNvSpPr/>
          <p:nvPr/>
        </p:nvSpPr>
        <p:spPr>
          <a:xfrm>
            <a:off x="616595" y="4115544"/>
            <a:ext cx="1548259"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Correlation analysis</a:t>
            </a:r>
            <a:endParaRPr lang="en-US" sz="1150" dirty="0"/>
          </a:p>
        </p:txBody>
      </p:sp>
      <p:sp>
        <p:nvSpPr>
          <p:cNvPr id="27" name="Text 20"/>
          <p:cNvSpPr/>
          <p:nvPr/>
        </p:nvSpPr>
        <p:spPr>
          <a:xfrm>
            <a:off x="616595" y="4365203"/>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Generated pairplots and heatmaps to analyze correlations.</a:t>
            </a:r>
            <a:endParaRPr lang="en-US" sz="900" dirty="0"/>
          </a:p>
        </p:txBody>
      </p:sp>
      <p:sp>
        <p:nvSpPr>
          <p:cNvPr id="28" name="Shape 21"/>
          <p:cNvSpPr/>
          <p:nvPr/>
        </p:nvSpPr>
        <p:spPr>
          <a:xfrm>
            <a:off x="4623197" y="3531171"/>
            <a:ext cx="4024685" cy="1132805"/>
          </a:xfrm>
          <a:prstGeom prst="roundRect">
            <a:avLst>
              <a:gd name="adj" fmla="val 9574"/>
            </a:avLst>
          </a:prstGeom>
          <a:solidFill>
            <a:srgbClr val="E8F3E8"/>
          </a:solidFill>
          <a:ln/>
        </p:spPr>
        <p:txBody>
          <a:bodyPr/>
          <a:lstStyle/>
          <a:p>
            <a:endParaRPr lang="en-IN"/>
          </a:p>
        </p:txBody>
      </p:sp>
      <p:sp>
        <p:nvSpPr>
          <p:cNvPr id="29" name="Shape 22"/>
          <p:cNvSpPr/>
          <p:nvPr/>
        </p:nvSpPr>
        <p:spPr>
          <a:xfrm>
            <a:off x="4743673" y="3651647"/>
            <a:ext cx="361504" cy="361504"/>
          </a:xfrm>
          <a:prstGeom prst="roundRect">
            <a:avLst>
              <a:gd name="adj" fmla="val 15807373"/>
            </a:avLst>
          </a:prstGeom>
          <a:solidFill>
            <a:srgbClr val="438951"/>
          </a:solidFill>
          <a:ln/>
        </p:spPr>
        <p:txBody>
          <a:bodyPr/>
          <a:lstStyle/>
          <a:p>
            <a:endParaRPr lang="en-IN"/>
          </a:p>
        </p:txBody>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43090" y="3751064"/>
            <a:ext cx="162669" cy="162669"/>
          </a:xfrm>
          <a:prstGeom prst="rect">
            <a:avLst/>
          </a:prstGeom>
        </p:spPr>
      </p:pic>
      <p:sp>
        <p:nvSpPr>
          <p:cNvPr id="31" name="Text 23"/>
          <p:cNvSpPr/>
          <p:nvPr/>
        </p:nvSpPr>
        <p:spPr>
          <a:xfrm>
            <a:off x="4743673" y="4115544"/>
            <a:ext cx="1506215" cy="188268"/>
          </a:xfrm>
          <a:prstGeom prst="rect">
            <a:avLst/>
          </a:prstGeom>
          <a:noFill/>
          <a:ln/>
        </p:spPr>
        <p:txBody>
          <a:bodyPr wrap="none" lIns="0" tIns="0" rIns="0" bIns="0" rtlCol="0" anchor="t"/>
          <a:lstStyle/>
          <a:p>
            <a:pPr marL="0" indent="0" algn="l">
              <a:lnSpc>
                <a:spcPct val="104000"/>
              </a:lnSpc>
              <a:buNone/>
            </a:pPr>
            <a:r>
              <a:rPr lang="en-US" sz="1150" dirty="0">
                <a:solidFill>
                  <a:srgbClr val="405449"/>
                </a:solidFill>
                <a:latin typeface="Fraunces ExtraBold" pitchFamily="34" charset="0"/>
                <a:ea typeface="Fraunces ExtraBold" pitchFamily="34" charset="-122"/>
                <a:cs typeface="Fraunces ExtraBold" pitchFamily="34" charset="-120"/>
              </a:rPr>
              <a:t>Genre impact</a:t>
            </a:r>
            <a:endParaRPr lang="en-US" sz="1150" dirty="0"/>
          </a:p>
        </p:txBody>
      </p:sp>
      <p:sp>
        <p:nvSpPr>
          <p:cNvPr id="32" name="Text 24"/>
          <p:cNvSpPr/>
          <p:nvPr/>
        </p:nvSpPr>
        <p:spPr>
          <a:xfrm>
            <a:off x="4743673" y="4365203"/>
            <a:ext cx="3783732" cy="178296"/>
          </a:xfrm>
          <a:prstGeom prst="rect">
            <a:avLst/>
          </a:prstGeom>
          <a:noFill/>
          <a:ln/>
        </p:spPr>
        <p:txBody>
          <a:bodyPr wrap="none" lIns="0" tIns="0" rIns="0" bIns="0" rtlCol="0" anchor="t"/>
          <a:lstStyle/>
          <a:p>
            <a:pPr marL="0" indent="0" algn="l">
              <a:lnSpc>
                <a:spcPct val="123000"/>
              </a:lnSpc>
              <a:buNone/>
            </a:pPr>
            <a:r>
              <a:rPr lang="en-US" sz="900" dirty="0">
                <a:solidFill>
                  <a:srgbClr val="405449"/>
                </a:solidFill>
                <a:latin typeface="Nobile" pitchFamily="34" charset="0"/>
                <a:ea typeface="Nobile" pitchFamily="34" charset="-122"/>
                <a:cs typeface="Nobile" pitchFamily="34" charset="-120"/>
              </a:rPr>
              <a:t>Analyzed how music genres affect mental health conditions.</a:t>
            </a:r>
            <a:endParaRPr lang="en-US" sz="900" dirty="0"/>
          </a:p>
        </p:txBody>
      </p:sp>
      <p:sp>
        <p:nvSpPr>
          <p:cNvPr id="33" name="Rectangle 32">
            <a:extLst>
              <a:ext uri="{FF2B5EF4-FFF2-40B4-BE49-F238E27FC236}">
                <a16:creationId xmlns:a16="http://schemas.microsoft.com/office/drawing/2014/main" id="{C5C9A79C-058B-099E-6BAB-BB2E10FE4901}"/>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50800"/>
            <a:ext cx="3824139" cy="420886"/>
          </a:xfrm>
          <a:prstGeom prst="rect">
            <a:avLst/>
          </a:prstGeom>
          <a:noFill/>
          <a:ln/>
        </p:spPr>
        <p:txBody>
          <a:bodyPr wrap="none" lIns="0" tIns="0" rIns="0" bIns="0" rtlCol="0" anchor="t"/>
          <a:lstStyle/>
          <a:p>
            <a:pPr marL="0" indent="0" algn="l">
              <a:lnSpc>
                <a:spcPct val="104000"/>
              </a:lnSpc>
              <a:buNone/>
            </a:pPr>
            <a:r>
              <a:rPr lang="en-US" sz="2650" dirty="0">
                <a:solidFill>
                  <a:srgbClr val="3B4540"/>
                </a:solidFill>
                <a:latin typeface="Fraunces ExtraBold" pitchFamily="34" charset="0"/>
                <a:ea typeface="Fraunces ExtraBold" pitchFamily="34" charset="-122"/>
                <a:cs typeface="Fraunces ExtraBold" pitchFamily="34" charset="-120"/>
              </a:rPr>
              <a:t>Results</a:t>
            </a:r>
            <a:endParaRPr lang="en-US" sz="2650" dirty="0"/>
          </a:p>
        </p:txBody>
      </p:sp>
      <p:sp>
        <p:nvSpPr>
          <p:cNvPr id="3" name="Shape 1"/>
          <p:cNvSpPr/>
          <p:nvPr/>
        </p:nvSpPr>
        <p:spPr>
          <a:xfrm>
            <a:off x="496119" y="1127522"/>
            <a:ext cx="1941984" cy="2138883"/>
          </a:xfrm>
          <a:prstGeom prst="roundRect">
            <a:avLst>
              <a:gd name="adj" fmla="val 6242"/>
            </a:avLst>
          </a:prstGeom>
          <a:solidFill>
            <a:srgbClr val="E8F3E8"/>
          </a:solidFill>
          <a:ln/>
        </p:spPr>
        <p:txBody>
          <a:bodyPr/>
          <a:lstStyle/>
          <a:p>
            <a:endParaRPr lang="en-IN"/>
          </a:p>
        </p:txBody>
      </p:sp>
      <p:sp>
        <p:nvSpPr>
          <p:cNvPr id="4" name="Shape 2"/>
          <p:cNvSpPr/>
          <p:nvPr/>
        </p:nvSpPr>
        <p:spPr>
          <a:xfrm>
            <a:off x="630734" y="1262137"/>
            <a:ext cx="403994" cy="403994"/>
          </a:xfrm>
          <a:prstGeom prst="roundRect">
            <a:avLst>
              <a:gd name="adj" fmla="val 14144835"/>
            </a:avLst>
          </a:prstGeom>
          <a:solidFill>
            <a:srgbClr val="438951"/>
          </a:solidFill>
          <a:ln/>
        </p:spPr>
        <p:txBody>
          <a:bodyPr/>
          <a:lstStyle/>
          <a:p>
            <a:endParaRPr lang="en-IN"/>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834" y="1373163"/>
            <a:ext cx="181794" cy="181794"/>
          </a:xfrm>
          <a:prstGeom prst="rect">
            <a:avLst/>
          </a:prstGeom>
        </p:spPr>
      </p:pic>
      <p:sp>
        <p:nvSpPr>
          <p:cNvPr id="6" name="Text 3"/>
          <p:cNvSpPr/>
          <p:nvPr/>
        </p:nvSpPr>
        <p:spPr>
          <a:xfrm>
            <a:off x="630734" y="1794049"/>
            <a:ext cx="1672754" cy="420737"/>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Younger participants</a:t>
            </a:r>
            <a:endParaRPr lang="en-US" sz="1300" dirty="0"/>
          </a:p>
        </p:txBody>
      </p:sp>
      <p:sp>
        <p:nvSpPr>
          <p:cNvPr id="7" name="Text 4"/>
          <p:cNvSpPr/>
          <p:nvPr/>
        </p:nvSpPr>
        <p:spPr>
          <a:xfrm>
            <a:off x="630734" y="2291507"/>
            <a:ext cx="1672754" cy="420142"/>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Most participants were in younger age groups.</a:t>
            </a:r>
            <a:endParaRPr lang="en-US" sz="1050" dirty="0"/>
          </a:p>
        </p:txBody>
      </p:sp>
      <p:sp>
        <p:nvSpPr>
          <p:cNvPr id="8" name="Shape 5"/>
          <p:cNvSpPr/>
          <p:nvPr/>
        </p:nvSpPr>
        <p:spPr>
          <a:xfrm>
            <a:off x="2566020" y="1127522"/>
            <a:ext cx="1941984" cy="2138883"/>
          </a:xfrm>
          <a:prstGeom prst="roundRect">
            <a:avLst>
              <a:gd name="adj" fmla="val 6242"/>
            </a:avLst>
          </a:prstGeom>
          <a:solidFill>
            <a:srgbClr val="E8F3E8"/>
          </a:solidFill>
          <a:ln/>
        </p:spPr>
        <p:txBody>
          <a:bodyPr/>
          <a:lstStyle/>
          <a:p>
            <a:endParaRPr lang="en-IN"/>
          </a:p>
        </p:txBody>
      </p:sp>
      <p:sp>
        <p:nvSpPr>
          <p:cNvPr id="9" name="Shape 6"/>
          <p:cNvSpPr/>
          <p:nvPr/>
        </p:nvSpPr>
        <p:spPr>
          <a:xfrm>
            <a:off x="2700635" y="1262137"/>
            <a:ext cx="403994" cy="403994"/>
          </a:xfrm>
          <a:prstGeom prst="roundRect">
            <a:avLst>
              <a:gd name="adj" fmla="val 14144835"/>
            </a:avLst>
          </a:prstGeom>
          <a:solidFill>
            <a:srgbClr val="438951"/>
          </a:solidFill>
          <a:ln/>
        </p:spPr>
        <p:txBody>
          <a:bodyPr/>
          <a:lstStyle/>
          <a:p>
            <a:endParaRPr lang="en-IN"/>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1735" y="1373163"/>
            <a:ext cx="181794" cy="181794"/>
          </a:xfrm>
          <a:prstGeom prst="rect">
            <a:avLst/>
          </a:prstGeom>
        </p:spPr>
      </p:pic>
      <p:sp>
        <p:nvSpPr>
          <p:cNvPr id="11" name="Text 7"/>
          <p:cNvSpPr/>
          <p:nvPr/>
        </p:nvSpPr>
        <p:spPr>
          <a:xfrm>
            <a:off x="2700635" y="1794049"/>
            <a:ext cx="1672754" cy="210369"/>
          </a:xfrm>
          <a:prstGeom prst="rect">
            <a:avLst/>
          </a:prstGeom>
          <a:noFill/>
          <a:ln/>
        </p:spPr>
        <p:txBody>
          <a:bodyPr wrap="none" lIns="0" tIns="0" rIns="0" bIns="0" rtlCol="0" anchor="t"/>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Spotify led usage</a:t>
            </a:r>
            <a:endParaRPr lang="en-US" sz="1300" dirty="0"/>
          </a:p>
        </p:txBody>
      </p:sp>
      <p:sp>
        <p:nvSpPr>
          <p:cNvPr id="12" name="Text 8"/>
          <p:cNvSpPr/>
          <p:nvPr/>
        </p:nvSpPr>
        <p:spPr>
          <a:xfrm>
            <a:off x="2700635" y="2081138"/>
            <a:ext cx="1672754" cy="420142"/>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Spotify was the most commonly used platform.</a:t>
            </a:r>
            <a:endParaRPr lang="en-US" sz="1050" dirty="0"/>
          </a:p>
        </p:txBody>
      </p:sp>
      <p:sp>
        <p:nvSpPr>
          <p:cNvPr id="13" name="Shape 9"/>
          <p:cNvSpPr/>
          <p:nvPr/>
        </p:nvSpPr>
        <p:spPr>
          <a:xfrm>
            <a:off x="4635922" y="1127522"/>
            <a:ext cx="1941984" cy="2138883"/>
          </a:xfrm>
          <a:prstGeom prst="roundRect">
            <a:avLst>
              <a:gd name="adj" fmla="val 6242"/>
            </a:avLst>
          </a:prstGeom>
          <a:solidFill>
            <a:srgbClr val="E8F3E8"/>
          </a:solidFill>
          <a:ln/>
        </p:spPr>
        <p:txBody>
          <a:bodyPr/>
          <a:lstStyle/>
          <a:p>
            <a:endParaRPr lang="en-IN"/>
          </a:p>
        </p:txBody>
      </p:sp>
      <p:sp>
        <p:nvSpPr>
          <p:cNvPr id="14" name="Shape 10"/>
          <p:cNvSpPr/>
          <p:nvPr/>
        </p:nvSpPr>
        <p:spPr>
          <a:xfrm>
            <a:off x="4770537" y="1262137"/>
            <a:ext cx="403994" cy="403994"/>
          </a:xfrm>
          <a:prstGeom prst="roundRect">
            <a:avLst>
              <a:gd name="adj" fmla="val 14144835"/>
            </a:avLst>
          </a:prstGeom>
          <a:solidFill>
            <a:srgbClr val="438951"/>
          </a:solidFill>
          <a:ln/>
        </p:spPr>
        <p:txBody>
          <a:bodyPr/>
          <a:lstStyle/>
          <a:p>
            <a:endParaRPr lang="en-IN"/>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81637" y="1373163"/>
            <a:ext cx="181794" cy="181794"/>
          </a:xfrm>
          <a:prstGeom prst="rect">
            <a:avLst/>
          </a:prstGeom>
        </p:spPr>
      </p:pic>
      <p:sp>
        <p:nvSpPr>
          <p:cNvPr id="16" name="Text 11"/>
          <p:cNvSpPr/>
          <p:nvPr/>
        </p:nvSpPr>
        <p:spPr>
          <a:xfrm>
            <a:off x="4770537" y="1794049"/>
            <a:ext cx="1672754" cy="420737"/>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Genre effects varied</a:t>
            </a:r>
            <a:endParaRPr lang="en-US" sz="1300" dirty="0"/>
          </a:p>
        </p:txBody>
      </p:sp>
      <p:sp>
        <p:nvSpPr>
          <p:cNvPr id="17" name="Text 12"/>
          <p:cNvSpPr/>
          <p:nvPr/>
        </p:nvSpPr>
        <p:spPr>
          <a:xfrm>
            <a:off x="4770537" y="2291507"/>
            <a:ext cx="1672754" cy="63021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Different music genres affected mental health differently.</a:t>
            </a:r>
            <a:endParaRPr lang="en-US" sz="1050" dirty="0"/>
          </a:p>
        </p:txBody>
      </p:sp>
      <p:sp>
        <p:nvSpPr>
          <p:cNvPr id="18" name="Shape 13"/>
          <p:cNvSpPr/>
          <p:nvPr/>
        </p:nvSpPr>
        <p:spPr>
          <a:xfrm>
            <a:off x="6705823" y="1127522"/>
            <a:ext cx="1942058" cy="2138883"/>
          </a:xfrm>
          <a:prstGeom prst="roundRect">
            <a:avLst>
              <a:gd name="adj" fmla="val 6241"/>
            </a:avLst>
          </a:prstGeom>
          <a:solidFill>
            <a:srgbClr val="E8F3E8"/>
          </a:solidFill>
          <a:ln/>
        </p:spPr>
        <p:txBody>
          <a:bodyPr/>
          <a:lstStyle/>
          <a:p>
            <a:endParaRPr lang="en-IN"/>
          </a:p>
        </p:txBody>
      </p:sp>
      <p:sp>
        <p:nvSpPr>
          <p:cNvPr id="19" name="Shape 14"/>
          <p:cNvSpPr/>
          <p:nvPr/>
        </p:nvSpPr>
        <p:spPr>
          <a:xfrm>
            <a:off x="6840438" y="1262137"/>
            <a:ext cx="403994" cy="403994"/>
          </a:xfrm>
          <a:prstGeom prst="roundRect">
            <a:avLst>
              <a:gd name="adj" fmla="val 14144835"/>
            </a:avLst>
          </a:prstGeom>
          <a:solidFill>
            <a:srgbClr val="438951"/>
          </a:solidFill>
          <a:ln/>
        </p:spPr>
        <p:txBody>
          <a:bodyPr/>
          <a:lstStyle/>
          <a:p>
            <a:endParaRPr lang="en-IN"/>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51538" y="1373163"/>
            <a:ext cx="181794" cy="181794"/>
          </a:xfrm>
          <a:prstGeom prst="rect">
            <a:avLst/>
          </a:prstGeom>
        </p:spPr>
      </p:pic>
      <p:sp>
        <p:nvSpPr>
          <p:cNvPr id="21" name="Text 15"/>
          <p:cNvSpPr/>
          <p:nvPr/>
        </p:nvSpPr>
        <p:spPr>
          <a:xfrm>
            <a:off x="6840438" y="1794049"/>
            <a:ext cx="1672828" cy="420737"/>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Linked mental health factors</a:t>
            </a:r>
            <a:endParaRPr lang="en-US" sz="1300" dirty="0"/>
          </a:p>
        </p:txBody>
      </p:sp>
      <p:sp>
        <p:nvSpPr>
          <p:cNvPr id="22" name="Text 16"/>
          <p:cNvSpPr/>
          <p:nvPr/>
        </p:nvSpPr>
        <p:spPr>
          <a:xfrm>
            <a:off x="6840438" y="2291507"/>
            <a:ext cx="1672828" cy="840284"/>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Correlation analysis showed relationships between anxiety and depression.</a:t>
            </a:r>
            <a:endParaRPr lang="en-US" sz="1050" dirty="0"/>
          </a:p>
        </p:txBody>
      </p:sp>
      <p:sp>
        <p:nvSpPr>
          <p:cNvPr id="23" name="Shape 17"/>
          <p:cNvSpPr/>
          <p:nvPr/>
        </p:nvSpPr>
        <p:spPr>
          <a:xfrm>
            <a:off x="496119" y="3394323"/>
            <a:ext cx="8151763" cy="1298302"/>
          </a:xfrm>
          <a:prstGeom prst="roundRect">
            <a:avLst>
              <a:gd name="adj" fmla="val 9336"/>
            </a:avLst>
          </a:prstGeom>
          <a:solidFill>
            <a:srgbClr val="E8F3E8"/>
          </a:solidFill>
          <a:ln/>
        </p:spPr>
        <p:txBody>
          <a:bodyPr/>
          <a:lstStyle/>
          <a:p>
            <a:endParaRPr lang="en-IN"/>
          </a:p>
        </p:txBody>
      </p:sp>
      <p:sp>
        <p:nvSpPr>
          <p:cNvPr id="24" name="Shape 18"/>
          <p:cNvSpPr/>
          <p:nvPr/>
        </p:nvSpPr>
        <p:spPr>
          <a:xfrm>
            <a:off x="630734" y="3528938"/>
            <a:ext cx="403994" cy="403994"/>
          </a:xfrm>
          <a:prstGeom prst="roundRect">
            <a:avLst>
              <a:gd name="adj" fmla="val 14144835"/>
            </a:avLst>
          </a:prstGeom>
          <a:solidFill>
            <a:srgbClr val="438951"/>
          </a:solidFill>
          <a:ln/>
        </p:spPr>
        <p:txBody>
          <a:bodyPr/>
          <a:lstStyle/>
          <a:p>
            <a:endParaRPr lang="en-IN"/>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1834" y="3639964"/>
            <a:ext cx="181794" cy="181794"/>
          </a:xfrm>
          <a:prstGeom prst="rect">
            <a:avLst/>
          </a:prstGeom>
        </p:spPr>
      </p:pic>
      <p:sp>
        <p:nvSpPr>
          <p:cNvPr id="26" name="Text 19"/>
          <p:cNvSpPr/>
          <p:nvPr/>
        </p:nvSpPr>
        <p:spPr>
          <a:xfrm>
            <a:off x="630734" y="4060850"/>
            <a:ext cx="2118494" cy="210369"/>
          </a:xfrm>
          <a:prstGeom prst="rect">
            <a:avLst/>
          </a:prstGeom>
          <a:noFill/>
          <a:ln/>
        </p:spPr>
        <p:txBody>
          <a:bodyPr wrap="none" lIns="0" tIns="0" rIns="0" bIns="0" rtlCol="0" anchor="t"/>
          <a:lstStyle/>
          <a:p>
            <a:pPr marL="0" indent="0" algn="l">
              <a:lnSpc>
                <a:spcPct val="104000"/>
              </a:lnSpc>
              <a:buNone/>
            </a:pPr>
            <a:r>
              <a:rPr lang="en-US" sz="1300" dirty="0">
                <a:solidFill>
                  <a:srgbClr val="405449"/>
                </a:solidFill>
                <a:latin typeface="Fraunces ExtraBold" pitchFamily="34" charset="0"/>
                <a:ea typeface="Fraunces ExtraBold" pitchFamily="34" charset="-122"/>
                <a:cs typeface="Fraunces ExtraBold" pitchFamily="34" charset="-120"/>
              </a:rPr>
              <a:t>Strong emotional impact</a:t>
            </a:r>
            <a:endParaRPr lang="en-US" sz="1300" dirty="0"/>
          </a:p>
        </p:txBody>
      </p:sp>
      <p:sp>
        <p:nvSpPr>
          <p:cNvPr id="27" name="Text 20"/>
          <p:cNvSpPr/>
          <p:nvPr/>
        </p:nvSpPr>
        <p:spPr>
          <a:xfrm>
            <a:off x="630734" y="4347939"/>
            <a:ext cx="7882533" cy="210071"/>
          </a:xfrm>
          <a:prstGeom prst="rect">
            <a:avLst/>
          </a:prstGeom>
          <a:noFill/>
          <a:ln/>
        </p:spPr>
        <p:txBody>
          <a:bodyPr wrap="none" lIns="0" tIns="0" rIns="0" bIns="0" rtlCol="0" anchor="t"/>
          <a:lstStyle/>
          <a:p>
            <a:pPr marL="0" indent="0" algn="l">
              <a:lnSpc>
                <a:spcPct val="130000"/>
              </a:lnSpc>
              <a:buNone/>
            </a:pPr>
            <a:r>
              <a:rPr lang="en-US" sz="1050" dirty="0">
                <a:solidFill>
                  <a:srgbClr val="405449"/>
                </a:solidFill>
                <a:latin typeface="Nobile" pitchFamily="34" charset="0"/>
                <a:ea typeface="Nobile" pitchFamily="34" charset="-122"/>
                <a:cs typeface="Nobile" pitchFamily="34" charset="-120"/>
              </a:rPr>
              <a:t>Music showed a significant influence on emotional and mental well-being.</a:t>
            </a:r>
            <a:endParaRPr lang="en-US" sz="1050" dirty="0"/>
          </a:p>
        </p:txBody>
      </p:sp>
      <p:sp>
        <p:nvSpPr>
          <p:cNvPr id="28" name="Rectangle 27">
            <a:extLst>
              <a:ext uri="{FF2B5EF4-FFF2-40B4-BE49-F238E27FC236}">
                <a16:creationId xmlns:a16="http://schemas.microsoft.com/office/drawing/2014/main" id="{05A8DB6B-D994-875F-6C04-23F60704A4FD}"/>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358131"/>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B4540"/>
                </a:solidFill>
                <a:latin typeface="Fraunces ExtraBold" pitchFamily="34" charset="0"/>
                <a:ea typeface="Fraunces ExtraBold" pitchFamily="34" charset="-122"/>
                <a:cs typeface="Fraunces ExtraBold" pitchFamily="34" charset="-120"/>
              </a:rPr>
              <a:t>Conclusion</a:t>
            </a:r>
            <a:endParaRPr lang="en-US" sz="2750" dirty="0"/>
          </a:p>
        </p:txBody>
      </p:sp>
      <p:sp>
        <p:nvSpPr>
          <p:cNvPr id="3" name="Text 1"/>
          <p:cNvSpPr/>
          <p:nvPr/>
        </p:nvSpPr>
        <p:spPr>
          <a:xfrm>
            <a:off x="496119" y="2084636"/>
            <a:ext cx="8151763" cy="1700659"/>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405449"/>
                </a:solidFill>
                <a:latin typeface="Nobile" pitchFamily="34" charset="0"/>
                <a:ea typeface="Nobile" pitchFamily="34" charset="-122"/>
                <a:cs typeface="Nobile" pitchFamily="34" charset="-120"/>
              </a:rPr>
              <a:t>This project successfully demonstrated the complete process of Exploratory Data Analysis on the Music-Mental Health dataset by performing data cleaning, visualization, and statistical analysis using Python libraries. Through different graphs, charts, and correlation analyses, we were able to understand the relationships between music preferences, streaming habits, and mental health conditions. The analysis improved our understanding of data interpretation and the practical use of Python libraries for data analysis and visualization.</a:t>
            </a:r>
            <a:endParaRPr lang="en-US" sz="1350" dirty="0"/>
          </a:p>
        </p:txBody>
      </p:sp>
      <p:sp>
        <p:nvSpPr>
          <p:cNvPr id="4" name="Rectangle 3">
            <a:extLst>
              <a:ext uri="{FF2B5EF4-FFF2-40B4-BE49-F238E27FC236}">
                <a16:creationId xmlns:a16="http://schemas.microsoft.com/office/drawing/2014/main" id="{A16680D6-8E1B-95A8-2BE3-1D396959998E}"/>
              </a:ext>
            </a:extLst>
          </p:cNvPr>
          <p:cNvSpPr/>
          <p:nvPr/>
        </p:nvSpPr>
        <p:spPr>
          <a:xfrm>
            <a:off x="8020594" y="4846320"/>
            <a:ext cx="1045029" cy="226814"/>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493</Words>
  <Application>Microsoft Office PowerPoint</Application>
  <PresentationFormat>On-screen Show (16:9)</PresentationFormat>
  <Paragraphs>94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Nobile</vt:lpstr>
      <vt:lpstr>Fraunces ExtraBold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NAYANDEEP GOSWAMI</cp:lastModifiedBy>
  <cp:revision>2</cp:revision>
  <dcterms:created xsi:type="dcterms:W3CDTF">2026-05-23T19:37:46Z</dcterms:created>
  <dcterms:modified xsi:type="dcterms:W3CDTF">2026-05-23T19:41:22Z</dcterms:modified>
</cp:coreProperties>
</file>